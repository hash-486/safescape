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5" r:id="rId2"/>
    <p:sldMasterId id="2147483677" r:id="rId3"/>
    <p:sldMasterId id="2147483679" r:id="rId4"/>
    <p:sldMasterId id="2147483682" r:id="rId5"/>
  </p:sldMasterIdLst>
  <p:notesMasterIdLst>
    <p:notesMasterId r:id="rId27"/>
  </p:notesMasterIdLst>
  <p:sldIdLst>
    <p:sldId id="257" r:id="rId6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8" name="Google Shape;76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9" name="Google Shape;769;p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0" name="Google Shape;770;p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1" name="Google Shape;771;p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251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4" name="Google Shape;774;p4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" name="Google Shape;776;p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76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0" name="Google Shape;78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1" name="Google Shape;781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2" name="Google Shape;782;p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3" name="Google Shape;783;p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72848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7" name="Google Shape;787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8" name="Google Shape;788;p6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9" name="Google Shape;789;p6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0" name="Google Shape;790;p6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1" name="Google Shape;791;p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581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6" name="Google Shape;796;p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7" name="Google Shape;797;p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8" name="Google Shape;798;p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0649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1" name="Google Shape;801;p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2" name="Google Shape;802;p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40140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05" name="Google Shape;805;p9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6" name="Google Shape;80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7" name="Google Shape;807;p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8" name="Google Shape;808;p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9" name="Google Shape;809;p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6265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2" name="Google Shape;812;p10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4" name="Google Shape;814;p1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1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1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223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9" name="Google Shape;819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0" name="Google Shape;820;p1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1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26436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5" name="Google Shape;825;p12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6" name="Google Shape;826;p1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7" name="Google Shape;827;p1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8" name="Google Shape;828;p1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71147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3"/>
          <p:cNvSpPr txBox="1">
            <a:spLocks noGrp="1"/>
          </p:cNvSpPr>
          <p:nvPr>
            <p:ph type="title"/>
          </p:nvPr>
        </p:nvSpPr>
        <p:spPr>
          <a:xfrm>
            <a:off x="838091" y="365084"/>
            <a:ext cx="10515900" cy="8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Poppins"/>
              <a:buNone/>
              <a:defRPr sz="3599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00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7753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668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3" name="Google Shape;84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4" name="Google Shape;844;p1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1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714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9" name="Google Shape;84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0" name="Google Shape;850;p1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1" name="Google Shape;851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2" name="Google Shape;852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53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8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5" name="Google Shape;855;p18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6" name="Google Shape;856;p1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1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8" name="Google Shape;858;p1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4825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1" name="Google Shape;86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2" name="Google Shape;86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3" name="Google Shape;8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4" name="Google Shape;8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5" name="Google Shape;8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6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20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68" name="Google Shape;868;p2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9" name="Google Shape;869;p2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0" name="Google Shape;870;p20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1" name="Google Shape;871;p20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2" name="Google Shape;872;p2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3" name="Google Shape;873;p2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4" name="Google Shape;874;p2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33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7" name="Google Shape;877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8763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2" name="Google Shape;882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13940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6" name="Google Shape;886;p23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7" name="Google Shape;88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8" name="Google Shape;888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9" name="Google Shape;889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0456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93" name="Google Shape;893;p24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4" name="Google Shape;89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5" name="Google Shape;895;p2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7" name="Google Shape;897;p2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8649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0" name="Google Shape;900;p25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1" name="Google Shape;901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9851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6" name="Google Shape;906;p26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7" name="Google Shape;907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153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9374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8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53147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3960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Title Slide"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0"/>
          <p:cNvSpPr txBox="1">
            <a:spLocks noGrp="1"/>
          </p:cNvSpPr>
          <p:nvPr>
            <p:ph type="ctrTitle"/>
          </p:nvPr>
        </p:nvSpPr>
        <p:spPr>
          <a:xfrm>
            <a:off x="3482340" y="3911285"/>
            <a:ext cx="9144000" cy="1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Garamond"/>
              <a:buNone/>
              <a:defRPr sz="6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2390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 preserve="1">
  <p:cSld name="1_Title Slide"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8" name="Google Shape;938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9" name="Google Shape;939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0" name="Google Shape;940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08258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2" name="Google Shape;952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3" name="Google Shape;953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4" name="Google Shape;954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5" name="Google Shape;955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5526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8" name="Google Shape;958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9" name="Google Shape;959;p3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3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1" name="Google Shape;961;p3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4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5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4" name="Google Shape;964;p35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5" name="Google Shape;965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58766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0" name="Google Shape;97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1" name="Google Shape;97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2" name="Google Shape;972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1923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7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7" name="Google Shape;977;p37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8" name="Google Shape;978;p37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9" name="Google Shape;979;p37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0" name="Google Shape;980;p37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1" name="Google Shape;98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3" name="Google Shape;98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293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8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86" name="Google Shape;986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484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31561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5" name="Google Shape;995;p40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6" name="Google Shape;996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7" name="Google Shape;997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8" name="Google Shape;998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9" name="Google Shape;999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6633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2" name="Google Shape;1002;p41"/>
          <p:cNvSpPr>
            <a:spLocks noGrp="1"/>
          </p:cNvSpPr>
          <p:nvPr>
            <p:ph type="pic" idx="2"/>
          </p:nvPr>
        </p:nvSpPr>
        <p:spPr>
          <a:xfrm>
            <a:off x="5183188" y="987427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4" name="Google Shape;1004;p4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5" name="Google Shape;1005;p4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6" name="Google Shape;1006;p4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724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9" name="Google Shape;1009;p4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0" name="Google Shape;1010;p4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4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2" name="Google Shape;1012;p4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7162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3"/>
          <p:cNvSpPr txBox="1">
            <a:spLocks noGrp="1"/>
          </p:cNvSpPr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15" name="Google Shape;1015;p43"/>
          <p:cNvSpPr txBox="1">
            <a:spLocks noGrp="1"/>
          </p:cNvSpPr>
          <p:nvPr>
            <p:ph type="body" idx="1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6" name="Google Shape;1016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8" name="Google Shape;1018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41299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21" name="Google Shape;1021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>
            <a:lvl1pPr marL="457200" lvl="0" indent="-337883" algn="l" rtl="0">
              <a:lnSpc>
                <a:spcPct val="9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721"/>
              <a:buChar char="⚫"/>
              <a:defRPr/>
            </a:lvl1pPr>
            <a:lvl2pPr marL="914400" lvl="1" indent="-301942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155"/>
              <a:buChar char="⚪"/>
              <a:defRPr/>
            </a:lvl2pPr>
            <a:lvl3pPr marL="1371600" lvl="2" indent="-30003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5"/>
              <a:buChar char="⯍"/>
              <a:defRPr/>
            </a:lvl3pPr>
            <a:lvl4pPr marL="1828800" lvl="3" indent="-2952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Char char="?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82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1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4.xml"/><Relationship Id="rId4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1.xml"/><Relationship Id="rId13" Type="http://schemas.openxmlformats.org/officeDocument/2006/relationships/theme" Target="../theme/theme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4" name="Google Shape;754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5" name="Google Shape;755;p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6" name="Google Shape;756;p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7" name="Google Shape;757;p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8" name="Google Shape;758;p1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9" name="Google Shape;759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66740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5" name="Google Shape;83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6" name="Google Shape;836;p1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7" name="Google Shape;837;p1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8" name="Google Shape;838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39" name="Google Shape;839;p15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0" name="Google Shape;840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286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9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16" name="Google Shape;916;p27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7" name="Google Shape;917;p27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18" name="Google Shape;91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47437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3" name="Google Shape;9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4" name="Google Shape;924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5" name="Google Shape;925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6" name="Google Shape;926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27" name="Google Shape;927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8" name="Google Shape;928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9" name="Google Shape;92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9"/>
          <p:cNvSpPr/>
          <p:nvPr/>
        </p:nvSpPr>
        <p:spPr>
          <a:xfrm>
            <a:off x="0" y="-335280"/>
            <a:ext cx="12192000" cy="71934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29"/>
          <p:cNvCxnSpPr/>
          <p:nvPr/>
        </p:nvCxnSpPr>
        <p:spPr>
          <a:xfrm>
            <a:off x="3345180" y="2707281"/>
            <a:ext cx="0" cy="2283900"/>
          </a:xfrm>
          <a:prstGeom prst="straightConnector1">
            <a:avLst/>
          </a:prstGeom>
          <a:noFill/>
          <a:ln w="349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32" name="Google Shape;93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862" y="2544174"/>
            <a:ext cx="4801940" cy="153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68334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2"/>
          <p:cNvSpPr/>
          <p:nvPr/>
        </p:nvSpPr>
        <p:spPr>
          <a:xfrm>
            <a:off x="0" y="6096000"/>
            <a:ext cx="12192000" cy="771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44" name="Google Shape;944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5" name="Google Shape;945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6" name="Google Shape;946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7" name="Google Shape;947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48" name="Google Shape;948;p32"/>
          <p:cNvSpPr/>
          <p:nvPr/>
        </p:nvSpPr>
        <p:spPr>
          <a:xfrm>
            <a:off x="0" y="6140361"/>
            <a:ext cx="12192000" cy="705000"/>
          </a:xfrm>
          <a:prstGeom prst="rect">
            <a:avLst/>
          </a:prstGeom>
          <a:solidFill>
            <a:srgbClr val="B61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90762" y="6165912"/>
            <a:ext cx="1935479" cy="6180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15682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011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08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SafeScape — On-Device Acoustic Distress &amp; Hazard Recognition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                                                                                    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Research-Product-Software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Bagyammal T, Professor, CSE Department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3957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600" dirty="0">
              <a:solidFill>
                <a:srgbClr val="FF0000"/>
              </a:solidFill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74331"/>
              </p:ext>
            </p:extLst>
          </p:nvPr>
        </p:nvGraphicFramePr>
        <p:xfrm>
          <a:off x="640080" y="2743200"/>
          <a:ext cx="10908792" cy="2057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URL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Amruth Rohan KR</a:t>
                      </a:r>
                      <a:endParaRPr lang="en-US" sz="10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Cb.en.u4ece23222@cb.students.amrita.edu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9994454198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https://github.com/AmruthRohan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Harish Venkat VS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Cb.en.u4ece23219@cb.students.amrita.edu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8807792343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https://github.com/Hash-486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Product Demo: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[URL]    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  GitHub Repository: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https://github.com/Hash-486/SafeScape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363E79-8852-E211-BCE6-3E9C3F640AA7}"/>
              </a:ext>
            </a:extLst>
          </p:cNvPr>
          <p:cNvSpPr txBox="1"/>
          <p:nvPr/>
        </p:nvSpPr>
        <p:spPr>
          <a:xfrm>
            <a:off x="640080" y="5349240"/>
            <a:ext cx="994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23CSE473 — Neural Networks and Deep Learning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2" name="Picture 2" descr="Amrita Vishwa Vidyapeetham, Coimbatore: Courses, Fees ...">
            <a:extLst>
              <a:ext uri="{FF2B5EF4-FFF2-40B4-BE49-F238E27FC236}">
                <a16:creationId xmlns:a16="http://schemas.microsoft.com/office/drawing/2014/main" id="{8F23BC69-80AD-8BA8-BC5B-CEF206E32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5989" y="133557"/>
            <a:ext cx="965000" cy="94306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9873AC-6BCB-B3A4-F87D-E18C7C236C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8" r="1708" b="6000"/>
          <a:stretch>
            <a:fillRect/>
          </a:stretch>
        </p:blipFill>
        <p:spPr>
          <a:xfrm>
            <a:off x="3792345" y="403250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00445-D966-8C52-294E-E8217B7606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200" r="11200"/>
          <a:stretch>
            <a:fillRect/>
          </a:stretch>
        </p:blipFill>
        <p:spPr>
          <a:xfrm>
            <a:off x="3792345" y="3209544"/>
            <a:ext cx="553468" cy="713232"/>
          </a:xfrm>
          <a:prstGeom prst="rect">
            <a:avLst/>
          </a:prstGeom>
          <a:ln w="9525">
            <a:solidFill>
              <a:srgbClr val="D7DC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052560" y="38404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C00000"/>
                </a:solidFill>
                <a:latin typeface="Cambria"/>
              </a:rPr>
              <a:t>Review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Integration — every model behind one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212" y="868680"/>
            <a:ext cx="6487095" cy="24688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5204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67512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used by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POST /predict?model=&lt;key&gt;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one model (default CRNN) — unchanged from Review 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POST /predict/all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one clip → all three models, with per-model latency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GET /models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test metrics, owner and served size per model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GET /testclips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20 held-out clips with ground truth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Each model is a self-contained bundle (weights, label map, pre-processing config, calibration); all share the same multi-window serving rule, so differences are architectural.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Comparison dashboard — same clip, every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pic>
        <p:nvPicPr>
          <p:cNvPr id="4" name="Picture 3" descr="ui_compare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274" y="868680"/>
            <a:ext cx="6411931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914400"/>
            <a:ext cx="3566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INPUTS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record 2 s from the microphone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upload any audio file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pick one of 20 held-out test clips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PER MODEL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label, confidence, full probability bars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server inference time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✓ / ✗ against ground truth when known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No external libraries or CDN — runs offline on the demo laptop.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UI testing — 20 held-out clips through 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pic>
        <p:nvPicPr>
          <p:cNvPr id="4" name="Picture 3" descr="ui_compare_ui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68680"/>
            <a:ext cx="6035040" cy="44424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960120"/>
          <a:ext cx="48463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109728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CRNN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3/4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1/4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15/20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17/20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17/20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766560" y="32004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WHAT THE TEST SHOWS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Hazards: 47 of 48 model×clip calls correct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Ambience is the weak spot: the serving rule lets any hazard window decide the clip — a deliberate false-alarm bias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Clips are cut around their loudest second, which makes ambience harder than real use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Next: require two consecutive hazard windows before alerting.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Functional and edge-case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466344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Hazard in first or second half of a clip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detected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all 4 hazard classes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 followed by 1 s of silence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fail — distress_call 0.77 (same with the earlier model; pre-processing)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2 s of silence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ambience, every model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energy gate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0.33 s clip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every model answers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zero-padded window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Unknown model key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HTTP 404, server stays up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No microphone access (LAN http)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record disabled with reason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upload/test clips still work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Existing mobile app on the new server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80/99 smoke test, all 5 classes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First request latency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inference only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pass — models warmed at startup (1.3 s → 47 ms)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Found and fixed by UI testing: the server originally judged only the last second of each 2 s clip, so a glass break in the first half was missed. Every window is now classified and the regression test guards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Offline metrics, as served by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pic>
        <p:nvPicPr>
          <p:cNvPr id="4" name="Picture 3" descr="ui_compare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330" y="868680"/>
            <a:ext cx="852885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0000"/>
                </a:solidFill>
                <a:latin typeface="Cambria"/>
              </a:rPr>
              <a:t>Three-model comparison — leak-free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097280"/>
                <a:gridCol w="1097280"/>
                <a:gridCol w="1371600"/>
                <a:gridCol w="1188720"/>
                <a:gridCol w="1280160"/>
                <a:gridCol w="11887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distress recall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served size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 / window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MFCC-CNN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Amruth Rohan KR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79.2%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80.3%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60,901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249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0.52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log-mel CRNN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89.7%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0.853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499,237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516 KB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6.90 ms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Distilled Transformer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Harish Venkat VS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83.8%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0.774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84,293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340 KB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0.48 ms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6583680" cy="23087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60604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READING THE TABLE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CRNN leads every quality metric: macro-F1 0.853 vs 0.774 / 0.725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Transformer: 17% of the CRNN's parameters, 14× faster per window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MFCC-CNN: smallest and fastest, weakest on glass_break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All three are far inside the 1 s real-time budget, so hazard recall decides: the quantized CRNN ships as the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Per-class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601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  <a:gridCol w="1106424"/>
              </a:tblGrid>
              <a:tr h="36576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MFCC-CNN P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MFCC-CNN 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MFCC-CNN 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CRNN P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CRNN 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CRNN 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Transformer P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Transformer R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Transformer F1</a:t>
                      </a:r>
                    </a:p>
                  </a:txBody>
                  <a:tcPr marL="54864" marR="54864"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distress_call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glass_break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0.69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0.39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horn_skid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alarm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6F1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ambience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2900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DISCUSSION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glass_break separates the models most (F1 0.43 / 0.69 / 0.49): a transient of a few hundred ms that the CRNN's time axis catches and pooling blurs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alarm and horn_skid are strong for every model since UrbanSound8K added ~5× more data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distress_call recall stays above 80% for all three — the class the proposal prioritises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Confusion matrices — leak-free test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pic>
        <p:nvPicPr>
          <p:cNvPr id="4" name="Picture 3" descr="mfcc_cnn_v2_leakfree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MFCC-CNN · Amruth Rohan KR</a:t>
            </a:r>
          </a:p>
        </p:txBody>
      </p:sp>
      <p:pic>
        <p:nvPicPr>
          <p:cNvPr id="6" name="Picture 5" descr="logmel_crnn_v2_leakfree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914400"/>
            <a:ext cx="36576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log-mel CRNN · Harish Venkat VS</a:t>
            </a:r>
          </a:p>
        </p:txBody>
      </p:sp>
      <p:pic>
        <p:nvPicPr>
          <p:cNvPr id="8" name="Picture 7" descr="transformer_v2_leakfree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914400"/>
            <a:ext cx="36576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4672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C00000"/>
                </a:solidFill>
                <a:latin typeface="Calibri"/>
              </a:rPr>
              <a:t>Distilled Transformer · Harish Venkat 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1A1A2E"/>
                </a:solidFill>
                <a:latin typeface="Calibri"/>
              </a:rPr>
              <a:t>Rows are the true class. The dominant error for every model is ambience predicted as a hazard — the price of class-weighted training and recall-floored calibration, which deliberately prefer a false alarm to a missed scream.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0000"/>
                </a:solidFill>
                <a:latin typeface="Cambria"/>
              </a:rP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0" y="310896"/>
            <a:ext cx="20391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5A5A6B"/>
                </a:solidFill>
              </a:rPr>
              <a:t>Review 3 · 6 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Distress audio is acted / emotional speech — a consented, self-recorded India-context set is the most valuable next step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169 validation windows still duplicate training audio — re-split on content hashes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Ambience false alarms at clip level — require agreement between consecutive windows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Ambience followed by silence reads as distress_call — likely per-window normalisation, not yet confirmed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Inference runs on a laptop over LAN — export to TorchScript/ONNX for on-phone inference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▪  Phone microphone needs HTTPS — certificate or native wrapper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6114D"/>
                </a:solidFill>
                <a:latin typeface="Calibri"/>
              </a:rPr>
              <a:t>Deliverables: working app + dashboard, three trained models, case study report, code at github.com/Hash-486/SafeScape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2EC4925-13C0-4F9C-9EC6-BA379B2903BA}" vid="{D05CAAF7-8C12-42B7-AE16-5E8F348BAE34}"/>
    </a:ext>
  </a:extLst>
</a:theme>
</file>

<file path=ppt/theme/theme2.xml><?xml version="1.0" encoding="utf-8"?>
<a:theme xmlns:a="http://schemas.openxmlformats.org/drawingml/2006/main" name="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entation Cover pag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Presentation slides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40</TotalTime>
  <Words>5138</Words>
  <Application>Microsoft Office PowerPoint</Application>
  <PresentationFormat>Widescreen</PresentationFormat>
  <Paragraphs>516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Avenir</vt:lpstr>
      <vt:lpstr>Calibri</vt:lpstr>
      <vt:lpstr>Cambria</vt:lpstr>
      <vt:lpstr>Garamond</vt:lpstr>
      <vt:lpstr>Poppins</vt:lpstr>
      <vt:lpstr>Theme1</vt:lpstr>
      <vt:lpstr>Presentation slides</vt:lpstr>
      <vt:lpstr>Presentation Cover page</vt:lpstr>
      <vt:lpstr>1_Presentation Cover page</vt:lpstr>
      <vt:lpstr>1_Presentation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SafeScape — Review 3</dc:title>
  <dc:subject>PptxGenJS Presentation</dc:subject>
  <dc:creator>Amruth Rohan KR; Harish Venkat VS</dc:creator>
  <cp:lastModifiedBy>Harish Venkat V S-[CB.EN.U4ECE23219]</cp:lastModifiedBy>
  <cp:revision>10</cp:revision>
  <dcterms:created xsi:type="dcterms:W3CDTF">2026-08-20T08:53:47Z</dcterms:created>
  <dcterms:modified xsi:type="dcterms:W3CDTF">2026-10-01T03:40:57Z</dcterms:modified>
</cp:coreProperties>
</file>