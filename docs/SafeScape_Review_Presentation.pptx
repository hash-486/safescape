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SafeScape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D8DCE8"/>
                </a:solidFill>
                <a:latin typeface="Segoe UI"/>
              </a:rPr>
              <a:t>On-Device Acoustic Distress and Hazard Recognition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1300" b="0" i="1">
                <a:solidFill>
                  <a:srgbClr val="B0B6C8"/>
                </a:solidFill>
                <a:latin typeface="Segoe UI"/>
              </a:rPr>
              <a:t>“Hearing the sound of danger, before it’s too late.”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670048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TEAM MEMBERS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A1A2E"/>
                </a:solidFill>
                <a:latin typeface="Segoe UI"/>
              </a:rPr>
              <a:t>Amruth Rohan KR  ·  Cb.en.u4ece23222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5A5A72"/>
                </a:solidFill>
                <a:latin typeface="Segoe UI"/>
              </a:rPr>
              <a:t>    architecture: MFCC-CNN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A1A2E"/>
                </a:solidFill>
                <a:latin typeface="Segoe UI"/>
              </a:rPr>
              <a:t>Harish Venkat VS  ·  Cb.en.u4ece23219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5A5A72"/>
                </a:solidFill>
                <a:latin typeface="Segoe UI"/>
              </a:rPr>
              <a:t>    architecture: log-mel CRNN (champion), Distilled Tiny 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670048"/>
            <a:ext cx="4949647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FACULTY GUIDE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300" b="0" i="0">
                <a:solidFill>
                  <a:srgbClr val="1A1A2E"/>
                </a:solidFill>
                <a:latin typeface="Segoe UI"/>
              </a:rPr>
              <a:t>Dr. Bagyammal T, Professor, CSE Department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A72"/>
                </a:solidFill>
                <a:latin typeface="Segoe UI"/>
              </a:rPr>
              <a:t>Group No: 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A72"/>
                </a:solidFill>
                <a:latin typeface="Segoe UI"/>
              </a:rPr>
              <a:t>Category: Research–Product–Software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5A72"/>
                </a:solidFill>
                <a:latin typeface="Segoe UI"/>
              </a:rPr>
              <a:t>23CSE473 — Neural Networks and Deep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285232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5468112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6F6B"/>
                </a:solidFill>
                <a:latin typeface="Segoe UI"/>
              </a:rPr>
              <a:t>GitHub repository:  https://github.com/Hash-486/SafeScape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5A5A72"/>
                </a:solidFill>
                <a:latin typeface="Segoe UI"/>
              </a:rPr>
              <a:t>Product demo:  [LinkedIn product demo URL]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5A5A72"/>
                </a:solidFill>
                <a:latin typeface="Segoe UI"/>
              </a:rPr>
              <a:t>SDG 5 — Gender Equality (Target 5.2)   ·   SDG 11 — Sustainable Cities (Target 11.7)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Problem statement, introduction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1 · 4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88720"/>
            <a:ext cx="5623560" cy="502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PROBLEM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A1A2E"/>
                </a:solidFill>
                <a:latin typeface="Segoe UI"/>
              </a:rPr>
              <a:t>Every mainstream personal-safety technology — panic buttons, GPS trackers, wearable alarms — requires the victim to consciously act: unlock a phone, press a button, speak a wake phrase.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A1A2E"/>
                </a:solidFill>
                <a:latin typeface="Segoe UI"/>
              </a:rPr>
              <a:t>In real assault, harassment or accident scenarios victims frequently cannot do this, due to shock, physical restraint, or simply lack of 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1A2E"/>
                </a:solidFill>
                <a:latin typeface="Segoe UI"/>
              </a:rPr>
              <a:t>There is no widely available, low-cost, privacy-preserving system that passively senses non-verbal acoustic distress cues and raises an alert automatically — fully on-device, without streaming audio to a cloud service.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188720"/>
            <a:ext cx="5178247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MOTIVATION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A large share of incidents of violence against women occur where the victim has no realistic opportunity to manually summon help.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Screams, glass breaking and crashes carry strong, learnable acoustic signatures — embedded scream detectors already reach ~90% with sub-megabyte models.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Commercial safety apps (bSafe, Raksha) are exclusively manual-trigger; none use passive multi-class acoustic sensing.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TinyML techniques (quantisation, pruning, distillation) now make continuous phone-CPU inference realistic at low battery cost.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5138928"/>
            <a:ext cx="5178247" cy="1024128"/>
          </a:xfrm>
          <a:prstGeom prst="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6832" y="5285232"/>
            <a:ext cx="47850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E6F6B"/>
                </a:solidFill>
                <a:latin typeface="Segoe UI"/>
              </a:rPr>
              <a:t>OBJECTIVE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Classify 1-second rolling audio windows into 5 classes in near real time, fully offline, in a model small enough to live on a phone.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Literature survey — MFCC-CNN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2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A5A72"/>
                </a:solidFill>
                <a:latin typeface="Segoe UI"/>
              </a:rPr>
              <a:t>Amruth Rohan KR · 5 journal papers (2025/2026, Scopus/SJR-indexed venues)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1.  Robust Scream Detection and Scream Temporal Interval Prediction Using CNN-Transformer and Windowing CNN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Kim, Jang &amp; Lee · IEEE Access, 13, 71374–71387, 2025 · DOI 10.1109/ACCESS.2025.3556729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Parallel CNN + Transformer with a regression head predicting exact scream start/end.   —   ~3 pp F-measure gain, ~10× lower EER vs. prior SOTA (relative figures)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74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2.  A lightweight CNN–transformer hybrid architecture with channel attention for real-time hazardous acoustic event detection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Altayeva &amp; Omarov · Frontiers in Artificial Intelligence, 9, art. 1824067, 2026 · DOI 10.3389/frai.2026.1824067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Lightweight CNN + channel attention for 8-class edge-deployable hazard detection.   —   93.2% acc · F1 0.86 · 1.35 M params · 0.42 GFLOPs · 14.8 ms/sample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2918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3.  Environmental sound classification using two-stream deep neural network with interactive time-frequency attention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Chen &amp; Peng · Applied Acoustics, 238, art. 110794, 2025 · DOI 10.1016/j.apacoust.2025.110794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Two-stream time/frequency branches with depthwise-separable convolutions.   —   94.2% on ESC-50 · 95.3% on UrbanSound8K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2245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062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4.  Robust Classification of Urban Sounds in Noisy Environments: SPWVD-MFCC and Dual-Stream Classifier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Peng, Wang &amp; Abdulla · Acoustics Australia, 53(2), 253–268, 2025 · DOI 10.1007/s40857-025-00350-6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Replaces the STFT front-end of MFCC with a Smoothed Pseudo-Wigner–Ville Distribution.   —   up to 37.2% improvement over STFT-based baselines (relative)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389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1206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5.  Robust Forest Sound Classification Using Pareto-Mordukhovich Optimized MFCC in Environmental Monitoring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Qurthobi, Damaševičius, Barzdaitis &amp; Maskeliūnas · IEEE Access, 13, 20923–20944, 2025 · DOI 10.1109/ACCESS.2025.3535796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Tunes MFCC extraction parameters rather than fixing them; MobileNet/GoogleNet + BiLSTM.   —   78.52% average accuracy on FSC22 (27 classes)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Literature survey — log-mel CRNN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2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A5A72"/>
                </a:solidFill>
                <a:latin typeface="Segoe UI"/>
              </a:rPr>
              <a:t>Harish Venkat VS · 5 journal papers (2025/2026, Scopus/SJR-indexed venues)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1.  An Ensemble of Convolutional Neural Networks for Sound Event Detection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Mukhamadiyev, Khujayarov, Nabieva &amp; Cho · Mathematics (MDPI), 13(9), art. 1502, 2025 · DOI 10.3390/math13091502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Ensemble CNN + Bi-GRU CRNN for public-safety sound events incl. screams and breaking sounds.   —   segment-based F1 71.5% · event-based F1 46%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74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2.  Frequency-Adaptive and Multi-Scale CRNN with Hybrid Sequential Modeling for Sound Event Detection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Zhou &amp; Rui · Circuits, Systems, and Signal Processing (Springer), 2026 · DOI 10.1007/s00034-026-03754-5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Frequency-dynamic convolution + sliding multi-scale module + hybrid-minGRU on DESED 2023.   —   event-based F1 0.636 · PSDS1 0.589 · PSDS2 0.824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2918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3.  ASiT-CRNN: sound event detection with fine-tuning of a self-supervised pre-trained ASiT model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Zheng, Zhang, Atito, Yang, Wang &amp; Mei · Digital Signal Processing, 160, art. 105055, 2025 · DOI 10.1016/j.dsp.2025.105055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Embeds a self-supervised spectrogram transformer into a CRNN backbone.   —   PSDS1 0.488 · PSDS2 0.767 vs. CRNN baseline 0.351 / 0.552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2245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062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4.  Dangerous Sound Detection Using Convolutional Feature Extraction and Temporal Modeling with BiLSTM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Omarov &amp; Altayeva · Eng. Technology &amp; Applied Science Research, 15(6), 28850–28855, 2025 · DOI 10.48084/etasr.13068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CNN + BiLSTM + attention over 8 hazard classes, 1 s window with 0.5 s hop — same framing as SafeScape.   —   &gt;90% accuracy · 6.8 ms GPU / 23.5 ms CPU per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389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1206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5.  Environmental sound classification using convolutional recurrent neural network and data augmentation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Bansal &amp; Garg · Multimedia Tools and Applications, 84(34), 42827–42849, 2025 · DOI 10.1007/s11042-025-20820-3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CRNN over cepstral features with augmentation, motivated by security/crime-investigation use.   —   99.89% on UrbanSound8K (verify split protocol before quoting)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Literature survey — Distilled Tiny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2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A5A72"/>
                </a:solidFill>
                <a:latin typeface="Segoe UI"/>
              </a:rPr>
              <a:t>Harish Venkat VS · 5 journal papers (2025/2026, Scopus/SJR-indexed venues)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1.  CMKD: CNN/Transformer-Based Cross-Model Knowledge Distillation for Audio Classification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Gong, Khurana, Rouditchenko &amp; Glass · IEEE Trans. Pattern Analysis and Machine Intelligence, 48(3), 3571–3585, 2026 · DOI 10.1109/TPAMI.2025.3644853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CNNs and audio spectrogram transformers are mutually effective teachers; students beat their teachers.   —   ESC-50 96.8% · student 8 M params vs. AST-Base 88 M (~11× smaller)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74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2.  Parameter-efficient target-specialized audio spectrogram transformers via selective cross-domain knowledge distillation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Liang, Luo &amp; Zhong · Knowledge-Based Systems, 332, art. 114893, 2025/2026 · DOI 10.1016/j.knosys.2025.114893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Domain-specific adapters + sparse fusion transfer only useful knowledge into a specialized AST.   —   matches/outperforms SOTA across six domains, training only a small adapter fraction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2918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3.  Acoustic Intelligence with Multi-Stage Model Optimization for Environmental Sound Classification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Sarathchandra, Mallikarachchi, Madushani &amp; Meedeniya · Smart Cities (MDPI), 9(5), art. 86, 2026 · DOI 10.3390/smartcities9050086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Channel pruning → quantization-aware training → distillation, the full compression stack.   —   511,033 → 50,774 params (~10×) retaining 96.75% accuracy on ESC-10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224528"/>
            <a:ext cx="41148" cy="786384"/>
          </a:xfrm>
          <a:prstGeom prst="rect">
            <a:avLst/>
          </a:prstGeom>
          <a:solidFill>
            <a:srgbClr val="2E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062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4.  A Sensor-Based TinyML Acoustic Monitoring System for Edge-Side Recognition on Resource-Constrained Microcontrollers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Wang &amp; Yu · Sensors (MDPI), 26(13), art. 3972, 2026 · DOI 10.3390/s26133972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End-to-end MFCC → INT8-quantized NN deployed fully offline on an Arduino-class MCU.   —   98.28% acc · 97.21% macro-F1 · ~26.9 KB deployed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38928"/>
            <a:ext cx="41148" cy="78638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120640"/>
            <a:ext cx="108292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1A2E"/>
                </a:solidFill>
                <a:latin typeface="Segoe UI"/>
              </a:rPr>
              <a:t>5.  Low resource multi-head self-attention based transformer for airborne acoustic classification system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80" b="0" i="0">
                <a:solidFill>
                  <a:srgbClr val="5A5A72"/>
                </a:solidFill>
                <a:latin typeface="Segoe UI"/>
              </a:rPr>
              <a:t>Mishra &amp; Ghosh · Journal on Audio, Speech, and Music Processing (Springer), 2026, art. 467 · DOI 10.1186/s13636-026-00467-0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E6F6B"/>
                </a:solidFill>
                <a:latin typeface="Segoe UI"/>
              </a:rPr>
              <a:t>LAiT: inverted residual blocks + compact multi-head self-attention for real-time acoustic classification on low-power devices.   —   0.23 M params · &lt;1 MB memory · +1.18% over the ULNN lightweight baseline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Architecture diagram — overall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3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065" y="1133856"/>
            <a:ext cx="10571563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440680"/>
            <a:ext cx="110578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1A2E"/>
                </a:solidFill>
                <a:latin typeface="Segoe UI"/>
              </a:rPr>
              <a:t>Inference path (top) runs entirely on the device: no audio, and no features derived from audio, ever leave it. The training path (bottom) runs offline, once.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A5A72"/>
                </a:solidFill>
                <a:latin typeface="Segoe UI"/>
              </a:rPr>
              <a:t>Serving note: the present build runs the model in a local FastAPI process reachable over the LAN from the phone browser — true in-phone inference (TFLite / ONNX Runtime Mobile) is the documented next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Module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4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152144"/>
          <a:ext cx="11057838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833"/>
                <a:gridCol w="2828749"/>
                <a:gridCol w="6343256"/>
              </a:tblGrid>
              <a:tr h="4297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Module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Implementation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Responsibility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1. Data acquisition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scripts/01_download_notes.md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Provenance log: exact commands, sources and licences for every dataset pulled.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2. Manifest builder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scripts/02_build_manifest.py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Maps every source file to one of 5 classes; caps the over-represented ambience class.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3. Preprocessing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scripts/03_preprocess_audio.py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Resample 16 kHz, mono, denoise, 1 s windows @ 50% overlap; 70/15/15 split at SOURCE-FILE level (no window leakage).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4. Feature extraction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scripts/04_extract_features.py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Pre-computes log-mel (64×101) and MFCC (40×101) to .npy — removed a Windows multiprocessing bottleneck (25–30× speed-up).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5. Training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scripts/06_train.py, 08_train_distilled_transformer.py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Trains each architecture; class-weighted loss; checkpoints on val macro-recall.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6. Hyper-parameter search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scripts/09_hparam_search.py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Optuna search over lr / batch / dropout / hidden size, then retrains the winner.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7. Evaluation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scripts/10_evaluate.py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Test metrics, per-class report, confusion matrix, latency, size — appends to reports/eval_results.md.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8. Quantise &amp; export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scripts/11_quantize_export.py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Dynamic PTQ (qint8) + exports the champion bundle to models/exported/.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9. Calibration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scripts/12_calibrate_logits.py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Fits a per-class logit bias on the val split under a hazard-recall constraint.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10. Serving + UI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server/app.py, inference.py, static/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FastAPI /predict and /health; mobile-styled web app (Home / History / Settings).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Performance metrics — definition &amp; suitability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5 · 3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152144"/>
          <a:ext cx="11057836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986"/>
                <a:gridCol w="1603808"/>
                <a:gridCol w="2447918"/>
                <a:gridCol w="3967316"/>
                <a:gridCol w="1603808"/>
              </a:tblGrid>
              <a:tr h="512064"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Metric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Formula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Why suitable for SafeScape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Segoe UI"/>
                        </a:rPr>
                        <a:t>Best in literature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(TP+TN) / all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Overall correctness across the 5 classes.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Easy to communicate, but misleading here: ambience is 63% of windows.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93.2% [Altayeva 2026]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Macro recall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mean of per-class recall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Averages recall over classes, ignoring frequency.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The model-selection metric — treats a rare hazard as equally important as common ambience.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Per-class precision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TP / (TP+FP)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Of windows flagged class c, how many truly are.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Governs false-alarm rate: low precision on a hazard class means nuisance alerts.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0.66–0.99 [Altayeva 2026]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Per-class recall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TP / (TP+FN)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Of true class-c windows, how many were caught.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The safety-critical metric: a miss is a hazard that goes unreported.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0.58–0.87 [Altayeva 2026]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distress_call recall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recall of the scream class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Detection rate on the flagship SDG-5 class.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Called out separately: the proposal’s RQ4 states a missed danger costs far more than a false alarm.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Macro F1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harmonic mean of macro P &amp; R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Balances the two under imbalance.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Calibration objective — but constrained so it cannot buy precision with hazard recall.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0.86 [Altayeva 2026]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CPU latency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ms per 1 s window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Wall-clock inference on the serving target.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Must sit far below the 1 s window for the rolling pipeline to keep up in real time.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14.8 ms [Altayeva 2026]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Model size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KB on disk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Deployed footprint after quantisation.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The low-cost / on-device constraint from the proposal brief.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40" b="0">
                          <a:solidFill>
                            <a:srgbClr val="1A1A2E"/>
                          </a:solidFill>
                          <a:latin typeface="Segoe UI"/>
                        </a:rPr>
                        <a:t>~26.9 KB [Wang 2026]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1">
                <a:solidFill>
                  <a:srgbClr val="5A5A72"/>
                </a:solidFill>
                <a:latin typeface="Segoe UI"/>
              </a:rPr>
              <a:t>Literature values come from the surveyed papers; datasets differ (ESC-50 / UrbanSound8K / custom 8-class sets), so they are reference points, not like-for-like comparisons.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Deep learning architecture — log-mel CRNN (champion)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6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n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947" y="1097280"/>
            <a:ext cx="9829800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261104"/>
            <a:ext cx="56692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NOVELTY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▪  Multi-class hazard taxonomy, not a single scream-vs-not detector — richer, more actionable alerts than Renesas / IIIT-Delhi single-class systems.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▪  Architecture comparison as a first-class deliverable: three models, one dataset, one split, reported on accuracy vs. latency vs. size.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▪  Safety-constrained post-hoc calibration: the operating point is chosen under an explicit hazard-recall floor, not by maximising a headline metric.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4261104"/>
            <a:ext cx="5178247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WHY CRNN OVER PLAIN CNN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Frequency-only pooling (2,1) preserves all 101 time frames, so the BiGRU sees the full temporal evolution of the second. A scream is defined as much by its pitch contour over time as by any single frame — exactly the information an MFCC-CNN discards when it average-pools to a single vector.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6F6B"/>
                </a:solidFill>
                <a:latin typeface="Segoe UI"/>
              </a:rPr>
              <a:t>Result: +18.2 accuracy points over the MFCC-CNN on identical data — and 89.8% once the dataset imbalance is fixed too.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Time &amp; space complexity — three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6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996" y="1078992"/>
            <a:ext cx="7561702" cy="26517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968496"/>
          <a:ext cx="11057835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055"/>
                <a:gridCol w="4773167"/>
                <a:gridCol w="1113739"/>
                <a:gridCol w="1272844"/>
                <a:gridCol w="1193291"/>
                <a:gridCol w="1113739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Architecture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Asymptotic cost (per 1 s window)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Params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CPU latency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MFCC-CNN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O(K²·C_in·C_out·F·T) per conv layer — 4 conv blocks, no recurrence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60,901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248.6 KB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0.44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66.6%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log-mel CRNN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conv as above + O(T·(D·h + h²)) for the BiGRU — sequential in T, cannot parallelise over time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499,237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516.4 KB int8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11.6 ms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1">
                          <a:solidFill>
                            <a:srgbClr val="1A1A2E"/>
                          </a:solidFill>
                          <a:latin typeface="Segoe UI"/>
                        </a:rPr>
                        <a:t>89.8%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Tiny Transformer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O(T²·d) self-attention — quadratic in the 101 frames, but fully parallel over T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84,293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339.0 KB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0.48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00" b="0">
                          <a:solidFill>
                            <a:srgbClr val="1A1A2E"/>
                          </a:solidFill>
                          <a:latin typeface="Segoe UI"/>
                        </a:rPr>
                        <a:t>73.5%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1">
                <a:solidFill>
                  <a:srgbClr val="5A5A72"/>
                </a:solidFill>
                <a:latin typeface="Segoe UI"/>
              </a:rPr>
              <a:t>The CRNN’s recurrence makes it the slowest of the three, yet 11.6 ms is still ~85× under the 1 s window budget — so accuracy, not speed, is the binding constraint 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Algorithm procedure —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7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562356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1 · Framing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x[n] sampled at fₛ = 16 kHz, segmented into 1 s windows of N = 16,000 samples with 50% hop (8,000 samples).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2 · STFT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X(m, k) = Σₙ x[n + mR]·w[n]·e^(−j2πkn/N_FFT), Hann window w, hop R → 101 frames.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3 · Mel filterbank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M(m, b) = Σₖ |X(m, k)|²·H_b(k), with B = 64 triangular filters spaced on mel(f) = 2595·log₁₀(1 + f/700).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4 · Log compression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S(m, b) = log(M(m, b) + ε), then per-feature normalisation → input tensor (1, 64, 101).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4b · MFCC branch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c(m, i) = Σ_b S(m, b)·cos[πi(b + ½)/B] — DCT of the log-mel, keeping 40 coefficients.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115568"/>
            <a:ext cx="5178247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5 · Convolutional encoder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Hₗ = MaxPool₍₂,₁₎(ReLU(BN(Wₗ * Hₗ₋₁ + bₗ))), two blocks, 1→16→32 channels; frequency 64→16, time preserved.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6 · Reshape to sequence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(B, 32, 16, 101) → (B, 101, 512): each time frame becomes a 512-dim token.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7 · BiGRU recurrence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zₜ = σ(W_z·[hₜ₋₁, xₜ]),  rₜ = σ(W_r·[hₜ₋₁, xₜ]),  h̃ₜ = tanh(W·[rₜ ⊙ hₜ₋₁, xₜ]),  hₜ = (1 − zₜ) ⊙ hₜ₋₁ + zₜ ⊙ h̃ₜ;  forward and backward.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8 · Temporal pooling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h̄ = (1/T)·Σₜ hₜ  →  logits ℓ = W_fc·h̄ + b_fc ∈ ℝ⁵.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9 · Calibration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ℓ̃_c = ℓ_c + β_c, with β = [+0.4, −0.2, 0.0, −0.6, 0.0] fitted on validation (see rubric 8).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4B3C"/>
                </a:solidFill>
                <a:latin typeface="Segoe UI"/>
              </a:rPr>
              <a:t>10 ·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p = softmax(ℓ̃),  ŷ = argmax_c p_c;  alert if ŷ ∈ {distress_call, glass_break, horn_skid, alarm}.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16752"/>
            <a:ext cx="5623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2E6F6B"/>
                </a:solidFill>
                <a:latin typeface="Segoe UI"/>
              </a:rPr>
              <a:t>Training loss:  L = −Σ_c w_c·y_c·log p_c,  class weights w_c ∝ 1/n_c (inverse frequency) to protect rare hazards.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Hyper-parameter details &amp; justification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8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152144"/>
          <a:ext cx="11057837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988"/>
                <a:gridCol w="1590511"/>
                <a:gridCol w="1666249"/>
                <a:gridCol w="6059089"/>
              </a:tblGrid>
              <a:tr h="4297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Hyper-parameter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How chosen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Justification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Learning rate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8.56 × 10⁻⁴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Optuna search, 8 trials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Best val macro-recall (0.751); higher rates (4.3×10⁻³) destabilised the GRU, lower (1.1×10⁻⁴) underfit in 25 epochs.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Batch size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Optuna search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Smaller batches gave noisier but better-generalising updates on a 12.6k-window training set.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Hidden size (GRU)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Optuna search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32 and 64 both underperformed (0.69–0.70 vs 0.751); 128 doubles capacity for ~4× params, still only 516 KB quantised.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Dropout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0.269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Optuna search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Tuned jointly with the above; regularises the 499k-param model against a modest dataset.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Epochs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Checkpointed on best val macro-recall, so extra epochs cannot overfit the selected weights.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Weight decay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1 × 10⁻⁴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Fixed default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Standard mild L2; not a sensitive axis in preliminary runs.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Class weights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∝ 1 / n_c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Derived from train split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Hazards are 2–70× rarer than ambience; inverse-frequency weighting stops collapse to the majority class.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Window / hop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1.0 s / 50%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Fixed by design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Matches the proposal’s near-real-time requirement and the 1 s convention in comparable work (Omarov 2025).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Quantisation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dynamic PTQ, qint8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Post-training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−73.6% size with ≤0.001 metric change; Linear/GRU layers only, which is where CRNN parameters live.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Calibration bias β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[+0.4, −0.2, 0, −0.6, 0]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Coordinate ascent on val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Maximises macro-F1 subject to a hazard-recall floor (≥ uncalibrated − 0.02). See next slide.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Results — architecture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9 · 3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97280"/>
          <a:ext cx="11057834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396"/>
                <a:gridCol w="1228648"/>
                <a:gridCol w="1392468"/>
                <a:gridCol w="1474378"/>
                <a:gridCol w="1392468"/>
                <a:gridCol w="1228648"/>
                <a:gridCol w="1064828"/>
              </a:tblGrid>
              <a:tr h="4023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Architecture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Macro recall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Macro precision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distress recall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Params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Latency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MFCC-CNN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66.6%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73.3%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0.436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66.7%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60,901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0.44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Tiny Transformer (distilled)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73.5%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74.2%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0.486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68.7%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84,293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0.48 ms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log-mel CRNN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84.5%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79.2%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0.584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82.3%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499,237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6.44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log-mel CRNN + calibration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84.8%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78.4%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0.598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85.6%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499,237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6.64 ms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1">
                          <a:solidFill>
                            <a:srgbClr val="1A1A2E"/>
                          </a:solidFill>
                          <a:latin typeface="Segoe UI"/>
                        </a:rPr>
                        <a:t>log-mel CRNN + expanded data + calibration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1">
                          <a:solidFill>
                            <a:srgbClr val="1A1A2E"/>
                          </a:solidFill>
                          <a:latin typeface="Segoe UI"/>
                        </a:rPr>
                        <a:t>89.8%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1">
                          <a:solidFill>
                            <a:srgbClr val="1A1A2E"/>
                          </a:solidFill>
                          <a:latin typeface="Segoe UI"/>
                        </a:rPr>
                        <a:t>86.5%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1">
                          <a:solidFill>
                            <a:srgbClr val="1A1A2E"/>
                          </a:solidFill>
                          <a:latin typeface="Segoe UI"/>
                        </a:rPr>
                        <a:t>0.849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88.2%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499,237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50" b="0">
                          <a:solidFill>
                            <a:srgbClr val="1A1A2E"/>
                          </a:solidFill>
                          <a:latin typeface="Segoe UI"/>
                        </a:rPr>
                        <a:t>11.6 ms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logmel_crnn_v2_calibrated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474720"/>
            <a:ext cx="3456432" cy="2880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3474720"/>
            <a:ext cx="705276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INFERENCE FROM THE RESULTS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The CRNN wins decisively on accuracy (+18.2 pts over the CNN, +11.3 over the transformer) because temporal modelling matters for these classes.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Quantisation is nearly free: −73.6% size for ≤0.001 change in every metric — the on-device constraint costs essentially no accuracy.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Latency is not the binding constraint: even the slowest model runs 85× faster than the 1 s window it consumes.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The first four rows share one dataset and split, so they compare like for like. The final row retrains the champion on an EXPANDED dataset and is therefore measured on a different, larger test set (3,220 vs 2,799 windows) — it is a data result, not an architecture result, and is kept separate for that reason.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80" b="0" i="0">
                <a:solidFill>
                  <a:srgbClr val="1A1A2E"/>
                </a:solidFill>
                <a:latin typeface="Segoe UI"/>
              </a:rPr>
              <a:t>▪  Macro precision is the headline: 0.598 → 0.849. Class imbalance, not architecture, was the binding limitation all along (see next slide).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Results — fixing the two weakest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9 · 3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Training used class-weighted loss to protect hazard recall — which pushes the decision boundary toward rare classes and costs precision. Calibration re-picks the operating point after training: one additive bias per class, fitted on validation only, no retraining.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956816"/>
          <a:ext cx="1105783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9580"/>
                <a:gridCol w="1097941"/>
                <a:gridCol w="1097941"/>
                <a:gridCol w="1176365"/>
                <a:gridCol w="1254790"/>
                <a:gridCol w="1176365"/>
                <a:gridCol w="2744853"/>
              </a:tblGrid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Objective (validation set)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Macro F1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Macro recall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glass_break R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horn_skid R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Verdict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uncalibrated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0.845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0.662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0.758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0.844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0.560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unconstrained macro-F1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0.863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0.700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0.671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0.594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0.340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rejected — misses 2/3 of horn/skid events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safety-constrained (shipped)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0.844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0.672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0.758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0.844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1">
                          <a:solidFill>
                            <a:srgbClr val="1A1A2E"/>
                          </a:solidFill>
                          <a:latin typeface="Segoe UI"/>
                        </a:rPr>
                        <a:t>0.560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1019" b="0">
                          <a:solidFill>
                            <a:srgbClr val="1A1A2E"/>
                          </a:solidFill>
                          <a:latin typeface="Segoe UI"/>
                        </a:rPr>
                        <a:t>keeps every hazard recall, takes free precision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913632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THE DESIGN DECISION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Maximising macro-F1 without constraints produces the best-looking headline numbers (+1.8 accuracy, +3.8 macro-F1) — and is the wrong answer. It buys that precision by collapsing horn_skid recall to 0.340, i.e. missing two thirds of those events.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Segoe UI"/>
              </a:rPr>
              <a:t>That contradicts RQ4 of the proposal: a missed danger event costs far more than a false alarm. The shipped calibration therefore maximises macro-F1 subject to a floor on every hazard class’s recall.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6F6B"/>
                </a:solidFill>
                <a:latin typeface="Segoe UI"/>
              </a:rPr>
              <a:t>Chosen bias β = [+0.4, −0.2, 0.0, −0.6, 0.0]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913632"/>
            <a:ext cx="517824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STEP 2 — MORE DATA FOR THE THIN CLASSES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46520" y="4242816"/>
          <a:ext cx="517824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745"/>
                <a:gridCol w="1313883"/>
                <a:gridCol w="1313883"/>
                <a:gridCol w="1004734"/>
              </a:tblGrid>
              <a:tr h="251460"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Segoe UI"/>
                        </a:rPr>
                        <a:t>40-clip classes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Segoe UI"/>
                        </a:rPr>
                        <a:t>expanded data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glass_break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0.283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0.684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2.4×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horn_skid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0.246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0.832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3.4×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alarm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0.694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0.910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+0.216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distress_call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0.840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0.915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+0.075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ambience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0.928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0.903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0">
                          <a:solidFill>
                            <a:srgbClr val="1A1A2E"/>
                          </a:solidFill>
                          <a:latin typeface="Segoe UI"/>
                        </a:rPr>
                        <a:t>−0.025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macro precision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0.598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0.849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+0.251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0.848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0.898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60" b="1">
                          <a:solidFill>
                            <a:srgbClr val="1A1A2E"/>
                          </a:solidFill>
                          <a:latin typeface="Segoe UI"/>
                        </a:rPr>
                        <a:t>+5.0 pts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46520" y="6373368"/>
            <a:ext cx="51782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2E6F6B"/>
                </a:solidFill>
                <a:latin typeface="Segoe UI"/>
              </a:rPr>
              <a:t>UrbanSound8K supplied 167 car-horn and 435 siren clips, plus 630 urban hard negatives; DataSEC and Freesound CC0 added 73 glass clips. Calibration alone could not fix precision — the data scarcity had to go.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Dataset — sources, construction &amp;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10 · 3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152144"/>
          <a:ext cx="11057837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034"/>
                <a:gridCol w="2823278"/>
                <a:gridCol w="1960609"/>
                <a:gridCol w="1333214"/>
                <a:gridCol w="2901702"/>
              </a:tblGrid>
              <a:tr h="566928"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Classes contributed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Scale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Licence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Segoe UI"/>
                        </a:rPr>
                        <a:t>URL</a:t>
                      </a:r>
                    </a:p>
                  </a:txBody>
                  <a:tcPr anchor="ctr" marL="64008" marR="64008">
                    <a:solidFill>
                      <a:srgbClr val="1A1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ESC-50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glass_break, horn_skid (car horn), alarm (clock alarm, siren), ambience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2,000 clips · 50 categories · 5 s each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CC BY-NC 3.0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github.com/karolpiczak/ESC-50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Human Screaming Detection (Kaggle)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distress_call — primary source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screaming vs non-screaming clips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Kaggle terms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kaggle.com/datasets/whats2000/</a:t>
                      </a:r>
                    </a:p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human-screaming-detection-dataset</a:t>
                      </a:r>
                    </a:p>
                  </a:txBody>
                  <a:tcPr anchor="ctr" marL="64008" marR="64008" marT="18288" marB="18288">
                    <a:solidFill>
                      <a:srgbClr val="F2F4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RAVDESS speech (Zenodo)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distress_call — supplement only (emotion 05 angry, 06 fearful)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24 actors · acted emotional speech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CC BY-NC-SA 4.0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2000"/>
                        </a:lnSpc>
                      </a:pPr>
                      <a:r>
                        <a:rPr sz="980" b="0">
                          <a:solidFill>
                            <a:srgbClr val="1A1A2E"/>
                          </a:solidFill>
                          <a:latin typeface="Segoe UI"/>
                        </a:rPr>
                        <a:t>zenodo.org/record/1188976</a:t>
                      </a:r>
                    </a:p>
                  </a:txBody>
                  <a:tcPr anchor="ctr"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584448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CONSTRUCTION &amp; CHALLENGES ADDRESSED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Resampled to 16 kHz mono and denoised before feature extraction.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Windowed into 1 s segments at 50% overlap → 18,130 windows (12,619 train / 2,712 val / 2,799 test).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Split performed at SOURCE-FILE level, not window level — no window from one recording can appear in two splits, which would inflate accuracy.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Ambience deliberately capped; class-weighted loss compensates for the residual 2–70× imbalance.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▪  Ethics: only public, licensed, acted recordings — no real victims, no non-consenting bystanders.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584448"/>
            <a:ext cx="517824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NOVELTY OF THE DATASET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20" b="0" i="0">
                <a:solidFill>
                  <a:srgbClr val="1A1A2E"/>
                </a:solidFill>
                <a:latin typeface="Segoe UI"/>
              </a:rPr>
              <a:t>The contribution is the assembled 5-class safety taxonomy: no single public corpus covers distress_call, glass_break, horn_skid, alarm and ambience together. Three sources with different licences, sample rates and labelling conventions are unified into one consistently-windowed, source-disjoint benchmark.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5029200"/>
            <a:ext cx="5178247" cy="1097280"/>
          </a:xfrm>
          <a:prstGeom prst="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5157216"/>
            <a:ext cx="481248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24B3C"/>
                </a:solidFill>
                <a:latin typeface="Segoe UI"/>
              </a:rPr>
              <a:t>HONEST LIMITATION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1A2E"/>
                </a:solidFill>
                <a:latin typeface="Segoe UI"/>
              </a:rPr>
              <a:t>The proposal planned self-recorded, India-context campus audio. Under the deadline the implementation used public datasets only, and distress_call leans on acted/emotional speech. Self-collection is stated future work — not claimed as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1">
                <a:solidFill>
                  <a:srgbClr val="5A5A72"/>
                </a:solidFill>
                <a:latin typeface="Segoe UI"/>
              </a:rPr>
              <a:t>IEEE DataPort: the datasets actually used are hosted on GitHub / Kaggle / Zenodo, not IEEE DataPort — confirm with the reviewer whether an IEEE DataPort URL is mandatory for this item.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UI screens — mobile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11 · 5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i_home_list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287" y="1170432"/>
            <a:ext cx="22860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413248"/>
            <a:ext cx="2558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1A2E"/>
                </a:solidFill>
                <a:latin typeface="Segoe UI"/>
              </a:rPr>
              <a:t>Home — armed, monitoring</a:t>
            </a:r>
          </a:p>
        </p:txBody>
      </p:sp>
      <p:pic>
        <p:nvPicPr>
          <p:cNvPr id="8" name="Picture 7" descr="ui_home_haz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327" y="1170432"/>
            <a:ext cx="228600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99967" y="5413248"/>
            <a:ext cx="2558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1A2E"/>
                </a:solidFill>
                <a:latin typeface="Segoe UI"/>
              </a:rPr>
              <a:t>Home — hazard detected</a:t>
            </a:r>
          </a:p>
        </p:txBody>
      </p:sp>
      <p:pic>
        <p:nvPicPr>
          <p:cNvPr id="10" name="Picture 9" descr="ui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9367" y="1170432"/>
            <a:ext cx="2286000" cy="411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33007" y="5413248"/>
            <a:ext cx="2558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1A2E"/>
                </a:solidFill>
                <a:latin typeface="Segoe UI"/>
              </a:rPr>
              <a:t>Alert history</a:t>
            </a:r>
          </a:p>
        </p:txBody>
      </p:sp>
      <p:pic>
        <p:nvPicPr>
          <p:cNvPr id="12" name="Picture 11" descr="ui_sett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2407" y="1170432"/>
            <a:ext cx="2286000" cy="411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066047" y="5413248"/>
            <a:ext cx="2558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1A2E"/>
                </a:solidFill>
                <a:latin typeface="Segoe UI"/>
              </a:rPr>
              <a:t>Settings — server &amp; connection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1">
                <a:solidFill>
                  <a:srgbClr val="5A5A72"/>
                </a:solidFill>
                <a:latin typeface="Segoe UI"/>
              </a:rPr>
              <a:t>Live screenshots from the running application (FastAPI + static web app), not mockups. Three screens: Home (arm/disarm + live status), History (persisted alerts), Settings (server URL + connectivity test).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Standard paper for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1647" y="36576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5A72"/>
                </a:solidFill>
                <a:latin typeface="Segoe UI"/>
              </a:rPr>
              <a:t>Rubric 12 · 2 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57839" cy="1298448"/>
          </a:xfrm>
          <a:prstGeom prst="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353312"/>
            <a:ext cx="106006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700" b="1" i="0">
                <a:solidFill>
                  <a:srgbClr val="1A1A2E"/>
                </a:solidFill>
                <a:latin typeface="Segoe UI"/>
              </a:rPr>
              <a:t>Scream and gunshot detection and localization for audio-surveillance systems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5A5A72"/>
                </a:solidFill>
                <a:latin typeface="Segoe UI"/>
              </a:rPr>
              <a:t>Valenzise, Gerosa, Tagliasacchi, Antonacci &amp; Sarti (Politecnico di Milano)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E6F6B"/>
                </a:solidFill>
                <a:latin typeface="Segoe UI"/>
              </a:rPr>
              <a:t>IEEE Conf. on Advanced Video and Signal Based Surveillance (AVSS), pp. 21–26, 2007  ·  DOI 10.1109/AVSS.2007.4425280  ·  ~394 citations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61488"/>
            <a:ext cx="11057839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JUSTIFICATION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Defines the exact task SafeScape modernises: automatically recognising human distress vocalisations and impulsive hazard sounds from ambient audio for public-safety response.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Its scream-vs-ambience discrimination problem is literally SafeScape's core class boundary.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Most-cited foundational work in acoustic hazard detection — nearly every later scream / glass-break detection paper traces back to it.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1A1A2E"/>
                </a:solidFill>
                <a:latin typeface="Segoe UI"/>
              </a:rPr>
              <a:t>▪  SafeScape's contribution reads as the natural update: hand-tuned GMMs → deep models, and a fixed camera-steering installation → a fully offline personal device.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596128"/>
            <a:ext cx="11057839" cy="713232"/>
          </a:xfrm>
          <a:prstGeom prst="rect">
            <a:avLst/>
          </a:prstGeom>
          <a:solidFill>
            <a:srgbClr val="F2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742432"/>
            <a:ext cx="106006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5A5A72"/>
                </a:solidFill>
                <a:latin typeface="Segoe UI"/>
              </a:rPr>
              <a:t>Journal alternative if required: Foggia et al., "Audio Surveillance of Roads: A System for Detecting Anomalous Sounds," IEEE Trans. Intelligent Transportation Systems, 17(1), 279–288, 2016, DOI 10.1109/TITS.2015.2470216 — maps directly onto the horn_skid class.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24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90461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A1A2E"/>
                </a:solidFill>
                <a:latin typeface="Segoe UI"/>
              </a:rPr>
              <a:t>Status, limitations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969264"/>
            <a:ext cx="11057839" cy="16459"/>
          </a:xfrm>
          <a:prstGeom prst="rect">
            <a:avLst/>
          </a:prstGeom>
          <a:solidFill>
            <a:srgbClr val="D5D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55778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F6B"/>
                </a:solidFill>
                <a:latin typeface="Segoe UI"/>
              </a:rPr>
              <a:t>DELIVERED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Full pipeline: acquisition → preprocessing → features → 3 trained architectures → Optuna search → evaluation → quantisation → calibration → serving.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Champion model: log-mel CRNN — 89.8% test accuracy, 0.849 macro precision, 88.2% distress-call recall, 516 KB quantised, 11.6 ms per window.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Working demo: FastAPI server + mobile web app, verified end-to-end on held-out clips.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Reproducible: every number in this deck regenerates from scripts in the repository.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1188720"/>
            <a:ext cx="5178247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24B3C"/>
                </a:solidFill>
                <a:latin typeface="Segoe UI"/>
              </a:rPr>
              <a:t>LIMITATIONS &amp; NEXT STEPS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Dataset: public corpora only; distress_call leans on acted emotional speech. Self-recorded India-context audio is the most valuable next addition.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glass_break and horn_skid have only 40 source clips each — precision on them stays low. More data for these two classes is the highest-leverage improvement available.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Serving is a LAN-reachable laptop process, not in-phone inference; TFLite / ONNX Runtime Mobile export is the documented next step.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Dynamic PTQ cannot quantise conv layers — static quantisation or QAT would compress the CNN branch too.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80" b="0" i="0">
                <a:solidFill>
                  <a:srgbClr val="1A1A2E"/>
                </a:solidFill>
                <a:latin typeface="Segoe UI"/>
              </a:rPr>
              <a:t>▪  Alarm recall fell 6.9 pts under calibration; a floor tuned on a larger validation set would likely recover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SafeScape - On-Device Acoustic Distress and Hazard Recognition</dc:title>
  <dc:subject>23CSE473 — Neural Networks and Deep Learning</dc:subject>
  <dc:creator>Amruth Rohan KR; Harish Venkat VS</dc:creator>
  <cp:keywords/>
  <dc:description/>
  <cp:lastModifiedBy>Harish Venkat VS</cp:lastModifiedBy>
  <cp:revision>1</cp:revision>
  <dcterms:created xsi:type="dcterms:W3CDTF">2013-01-27T09:14:16Z</dcterms:created>
  <dcterms:modified xsi:type="dcterms:W3CDTF">2013-01-27T09:15:58Z</dcterms:modified>
  <cp:category/>
</cp:coreProperties>
</file>