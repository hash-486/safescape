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27"/>
  </p:notesMasterIdLst>
  <p:sldIdLst>
    <p:sldId id="257" r:id="rId6"/>
    <p:sldId id="264" r:id="rId7"/>
    <p:sldId id="259" r:id="rId8"/>
    <p:sldId id="260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3" r:id="rId34"/>
    <p:sldId id="282" r:id="rId33"/>
    <p:sldId id="272" r:id="rId18"/>
    <p:sldId id="273" r:id="rId19"/>
    <p:sldId id="274" r:id="rId20"/>
    <p:sldId id="275" r:id="rId21"/>
    <p:sldId id="281" r:id="rId32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9.xml"/><Relationship Id="rId33" Type="http://schemas.openxmlformats.org/officeDocument/2006/relationships/slide" Target="slides/slide14.xml"/><Relationship Id="rId34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3.xml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4.xml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theme" Target="../theme/theme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4.jpg"/><Relationship Id="rId5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SafeScape — On-Device Acoustic Distress &amp; Hazard Recognition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                                                                                    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Research-Product-Software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Bagyammal T, Professor, CSE Department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395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74331"/>
              </p:ext>
            </p:extLst>
          </p:nvPr>
        </p:nvGraphicFramePr>
        <p:xfrm>
          <a:off x="640080" y="2743200"/>
          <a:ext cx="10908792" cy="2057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URL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Amruth Rohan KR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Cb.en.u4ece23222@cb.students.amrita.edu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9994454198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https://github.com/AmruthRohan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Harish Venkat VS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Cb.en.u4ece23219@cb.students.amrita.edu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8807792343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https://github.com/Hash-486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Product Demo: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[URL]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   GitHub Repository: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https://github.com/Hash-486/SafeScape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63E79-8852-E211-BCE6-3E9C3F640AA7}"/>
              </a:ext>
            </a:extLst>
          </p:cNvPr>
          <p:cNvSpPr txBox="1"/>
          <p:nvPr/>
        </p:nvSpPr>
        <p:spPr>
          <a:xfrm>
            <a:off x="640080" y="5349240"/>
            <a:ext cx="99408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23CSE473 — Neural Networks and Deep Learning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9873AC-6BCB-B3A4-F87D-E18C7C236C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8" r="1708" b="6000"/>
          <a:stretch>
            <a:fillRect/>
          </a:stretch>
        </p:blipFill>
        <p:spPr>
          <a:xfrm>
            <a:off x="3792345" y="4032504"/>
            <a:ext cx="553468" cy="713232"/>
          </a:xfrm>
          <a:prstGeom prst="rect">
            <a:avLst/>
          </a:prstGeom>
          <a:ln w="9525">
            <a:solidFill>
              <a:srgbClr val="D7DCEA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100445-D966-8C52-294E-E8217B7606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200" r="11200"/>
          <a:stretch>
            <a:fillRect/>
          </a:stretch>
        </p:blipFill>
        <p:spPr>
          <a:xfrm>
            <a:off x="3792345" y="3209544"/>
            <a:ext cx="553468" cy="713232"/>
          </a:xfrm>
          <a:prstGeom prst="rect">
            <a:avLst/>
          </a:prstGeom>
          <a:ln w="9525">
            <a:solidFill>
              <a:srgbClr val="D7DCEA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Problem statement, introduction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1 · 4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631" y="1004278"/>
            <a:ext cx="5543509" cy="4957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PROBLEM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2E"/>
                </a:solidFill>
                <a:latin typeface="Calibri"/>
              </a:rPr>
              <a:t>Every mainstream personal-safety technology — panic buttons, GPS trackers, wearable alarms — requires the victim to consciously act: unlock a phone, press a button, speak a wake phrase.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1A2E"/>
                </a:solidFill>
                <a:latin typeface="Calibri"/>
              </a:rPr>
              <a:t>In real assault, harassment or accident scenarios victims frequently cannot do this, due to shock, physical restraint, or simply lack of time.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2E"/>
                </a:solidFill>
                <a:latin typeface="Calibri"/>
              </a:rPr>
              <a:t>There is no widely available, low-cost, privacy-preserving system that passively senses non-verbal acoustic distress cues and raises an alert automatically — fully on-device, without streaming audio to a cloud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1528" y="1004278"/>
            <a:ext cx="5104535" cy="37858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MOTIVATION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▪  A large share of incidents of violence against women occur where the victim has no realistic opportunity to manually summon help.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▪  Screams, glass breaking and crashes carry strong, learnable acoustic signatures — embedded scream detectors already reach ~90% with sub-megabyte models.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▪  Commercial safety apps (bSafe, Raksha) are exclusively manual-trigger; none use passive multi-class acoustic sensing.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1A2E"/>
                </a:solidFill>
                <a:latin typeface="Calibri"/>
              </a:rPr>
              <a:t>▪  TinyML techniques (quantisation, pruning, distillation) now make continuous phone-CPU inference realistic at low battery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1528" y="4898255"/>
            <a:ext cx="5104535" cy="1009549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48846" y="5042476"/>
            <a:ext cx="4716940" cy="811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6114D"/>
                </a:solidFill>
                <a:latin typeface="Calibri"/>
              </a:rPr>
              <a:t>OBJECTIVE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Classify 1-second rolling audio windows into 5 classes in near real time, fully offline, in a model small enough to live on a phone.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Products in the Same Area: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95237"/>
              </p:ext>
            </p:extLst>
          </p:nvPr>
        </p:nvGraphicFramePr>
        <p:xfrm>
          <a:off x="263236" y="1417320"/>
          <a:ext cx="11285635" cy="3688080"/>
        </p:xfrm>
        <a:graphic>
          <a:graphicData uri="http://schemas.openxmlformats.org/drawingml/2006/table">
            <a:tbl>
              <a:tblPr/>
              <a:tblGrid>
                <a:gridCol w="1584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893">
                  <a:extLst>
                    <a:ext uri="{9D8B030D-6E8A-4147-A177-3AD203B41FA5}">
                      <a16:colId xmlns:a16="http://schemas.microsoft.com/office/drawing/2014/main" val="2081401370"/>
                    </a:ext>
                  </a:extLst>
                </a:gridCol>
                <a:gridCol w="348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6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 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Arial"/>
                        </a:rPr>
                        <a:t>URL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bSafe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getbsafe.com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 button, voice-activated alarm, live location sharing with guardians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Victim must trigger it (button or spoken keyword); no passive sensing of distress sounds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India (ERSS)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112.gov.in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emergency app: panic button sends location to the Emergency Response Support System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trigger only; useless if the victim is restrained, in shock or out of time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Sound Recognition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support.apple.com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detection of glass breaking, sirens, shouting, alarms, car horns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 notification to the phone owner only; no hazard alert or escalation to contacts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of Product: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>
                <a:solidFill>
                  <a:srgbClr val="1A1A2E"/>
                </a:solidFill>
                <a:latin typeface="Calibri"/>
              </a:rPr>
              <a:t>SafeScape listens to 1-second rolling audio windows on the device and classifies them into five classes — distress_call, glass_break, horn_skid, alarm, ambience — raising an alert automatically, with no button press and no audio leaving the phone. Three architectures (MFCC-CNN, log-mel CRNN, distilled Tiny Transformer) were trained on one source-disjoint dataset; the calibrated log-mel CRNN reaches 89.8% test accuracy at 516 KB and 11.6 ms per window.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24912" cy="320040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3591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1A1A2E"/>
                </a:solidFill>
                <a:latin typeface="Calibri"/>
              </a:rPr>
              <a:t>Hazard-sound detectors in the literature are single-class (scream vs. not) or cloud-based; none combine a multi-class safety taxonomy with on-device, sub-MB inference.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19272" y="2743200"/>
            <a:ext cx="2724912" cy="320040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0215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96512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02152" y="3611880"/>
            <a:ext cx="23591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1A1A2E"/>
                </a:solidFill>
                <a:latin typeface="Calibri"/>
              </a:rPr>
              <a:t>A passive, automatic safety layer: it hears the event and alerts, instead of waiting for the victim to press a button or speak a wake phrase.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81344" y="2743200"/>
            <a:ext cx="2724912" cy="320040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6422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8584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4224" y="3611880"/>
            <a:ext cx="23591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1A1A2E"/>
                </a:solidFill>
                <a:latin typeface="Calibri"/>
              </a:rPr>
              <a:t>5-class hazard taxonomy · 1 s windows, 50% overlap · 516 KB INT8 model · 11.6 ms/window · calibrated hazard-recall floor · mobile web UI with alert history.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43416" y="2743200"/>
            <a:ext cx="2724912" cy="320040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226296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20656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Focused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26296" y="3611880"/>
            <a:ext cx="23591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1A1A2E"/>
                </a:solidFill>
                <a:latin typeface="Calibri"/>
              </a:rPr>
              <a:t>Architecture comparison (CNN vs. CRNN vs. Transformer) on one dataset and split, and a safety-constrained operating point instead of a headline-metric one.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Contributions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 of each team member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312776"/>
              </p:ext>
            </p:extLst>
          </p:nvPr>
        </p:nvGraphicFramePr>
        <p:xfrm>
          <a:off x="457200" y="1206454"/>
          <a:ext cx="11274552" cy="31089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Name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(Technical)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Amruth Rohan KR
Cb.en.u4ece23222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MFCC-CNN branch: MFCC feature pipeline (40 coefficients), CNN design and training; literature survey for the MFCC-CNN architecture.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Harish Venkat VS
Cb.en.u4ece23219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log-mel CRNN (champion) and Distilled Tiny Transformer: model design, Optuna search, knowledge distillation, quantisation and calibration; literature survey for both architectures.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Literature survey — MFCC-CNN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2 · 5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A5A6B"/>
                </a:solidFill>
                <a:latin typeface="Calibri"/>
              </a:rPr>
              <a:t>Amruth Rohan KR · 5 journal papers (2025/2026, Scopus/SJR-indexed venues)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4114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1.  Robust Scream Detection and Scream Temporal Interval Prediction Using CNN-Transformer and Windowing CNN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Kim, Jang &amp; Lee · IEEE Access, 13, 71374–71387, 2025 · DOI 10.1109/ACCESS.2025.3556729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Parallel CNN + Transformer with a regression head predicting exact scream start/end.   —   ~3 pp F-measure gain, ~10× lower EER vs. prior SOTA (relative figures)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12848"/>
            <a:ext cx="41148" cy="786384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2.  A lightweight CNN–transformer hybrid architecture with channel attention for real-time hazardous acoustic event detection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Altayeva &amp; Omarov · Frontiers in Artificial Intelligence, 9, art. 1824067, 2026 · DOI 10.3389/frai.2026.1824067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Lightweight CNN + channel attention for 8-class edge-deployable hazard detection.   —   93.2% acc · F1 0.86 · 1.35 M params · 0.42 GFLOPs · 14.8 ms/sample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114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3.  Environmental sound classification using two-stream deep neural network with interactive time-frequency attention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Chen &amp; Peng · Applied Acoustics, 238, art. 110794, 2025 · DOI 10.1016/j.apacoust.2025.110794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Two-stream time/frequency branches with depthwise-separable convolutions.   —   94.2% on ESC-50 · 95.3% on UrbanSound8K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41648"/>
            <a:ext cx="41148" cy="786384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4.  Robust Classification of Urban Sounds in Noisy Environments: SPWVD-MFCC and Dual-Stream Classifier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Peng, Wang &amp; Abdulla · Acoustics Australia, 53(2), 253–268, 2025 · DOI 10.1007/s40857-025-00350-6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Replaces the STFT front-end of MFCC with a Smoothed Pseudo-Wigner–Ville Distribution.   —   up to 37.2% improvement over STFT-based baselines (relative)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956048"/>
            <a:ext cx="4114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9377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5.  Robust Forest Sound Classification Using Pareto-Mordukhovich Optimized MFCC in Environmental Monitoring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Qurthobi, Damaševičius, Barzdaitis &amp; Maskeliūnas · IEEE Access, 13, 20923–20944, 2025 · DOI 10.1109/ACCESS.2025.3535796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Tunes MFCC extraction parameters rather than fixing them; MobileNet/GoogleNet + BiLSTM.   —   78.52% average accuracy on FSC22 (27 classes)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Literature survey — log-mel CRNN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2 · 5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A5A6B"/>
                </a:solidFill>
                <a:latin typeface="Calibri"/>
              </a:rPr>
              <a:t>Harish Venkat VS · 5 journal papers (2025/2026, Scopus/SJR-indexed venues)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4114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1.  An Ensemble of Convolutional Neural Networks for Sound Event Detection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Mukhamadiyev, Khujayarov, Nabieva &amp; Cho · Mathematics (MDPI), 13(9), art. 1502, 2025 · DOI 10.3390/math13091502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Ensemble CNN + Bi-GRU CRNN for public-safety sound events incl. screams and breaking sounds.   —   segment-based F1 71.5% · event-based F1 46%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12848"/>
            <a:ext cx="41148" cy="786384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2.  Frequency-Adaptive and Multi-Scale CRNN with Hybrid Sequential Modeling for Sound Event Detection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Zhou &amp; Rui · Circuits, Systems, and Signal Processing (Springer), 2026 · DOI 10.1007/s00034-026-03754-5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Frequency-dynamic convolution + sliding multi-scale module + hybrid-minGRU on DESED 2023.   —   event-based F1 0.636 · PSDS1 0.589 · PSDS2 0.824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114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3.  ASiT-CRNN: sound event detection with fine-tuning of a self-supervised pre-trained ASiT model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Zheng, Zhang, Atito, Yang, Wang &amp; Mei · Digital Signal Processing, 160, art. 105055, 2025 · DOI 10.1016/j.dsp.2025.105055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Embeds a self-supervised spectrogram transformer into a CRNN backbone.   —   PSDS1 0.488 · PSDS2 0.767 vs. CRNN baseline 0.351 / 0.552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41648"/>
            <a:ext cx="41148" cy="786384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4.  Dangerous Sound Detection Using Convolutional Feature Extraction and Temporal Modeling with BiLSTM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Omarov &amp; Altayeva · Eng. Technology &amp; Applied Science Research, 15(6), 28850–28855, 2025 · DOI 10.48084/etasr.13068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CNN + BiLSTM + attention over 8 hazard classes, 1 s window with 0.5 s hop — same framing as SafeScape.   —   &gt;90% accuracy · 6.8 ms GPU / 23.5 ms CPU per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956048"/>
            <a:ext cx="4114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9377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5.  Environmental sound classification using convolutional recurrent neural network and data augmentation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Bansal &amp; Garg · Multimedia Tools and Applications, 84(34), 42827–42849, 2025 · DOI 10.1007/s11042-025-20820-3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CRNN over cepstral features with augmentation, motivated by security/crime-investigation use.   —   99.89% on UrbanSound8K (verify split protocol before quoting)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Literature survey — Distilled Tiny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2 · 5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A5A6B"/>
                </a:solidFill>
                <a:latin typeface="Calibri"/>
              </a:rPr>
              <a:t>Harish Venkat VS · 5 journal papers (2025/2026, Scopus/SJR-indexed venues)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4114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1.  CMKD: CNN/Transformer-Based Cross-Model Knowledge Distillation for Audio Classification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Gong, Khurana, Rouditchenko &amp; Glass · IEEE Trans. Pattern Analysis and Machine Intelligence, 48(3), 3571–3585, 2026 · DOI 10.1109/TPAMI.2025.3644853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CNNs and audio spectrogram transformers are mutually effective teachers; students beat their teachers.   —   ESC-50 96.8% · student 8 M params vs. AST-Base 88 M (~11× smaller)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12848"/>
            <a:ext cx="41148" cy="786384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2.  Parameter-efficient target-specialized audio spectrogram transformers via selective cross-domain knowledge distillation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Liang, Luo &amp; Zhong · Knowledge-Based Systems, 332, art. 114893, 2025/2026 · DOI 10.1016/j.knosys.2025.114893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Domain-specific adapters + sparse fusion transfer only useful knowledge into a specialized AST.   —   matches/outperforms SOTA across six domains, training only a small adapter fraction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114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3.  Acoustic Intelligence with Multi-Stage Model Optimization for Environmental Sound Classification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Sarathchandra, Mallikarachchi, Madushani &amp; Meedeniya · Smart Cities (MDPI), 9(5), art. 86, 2026 · DOI 10.3390/smartcities9050086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Channel pruning → quantization-aware training → distillation, the full compression stack.   —   511,033 → 50,774 params (~10×) retaining 96.75% accuracy on ESC-10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41648"/>
            <a:ext cx="41148" cy="786384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4.  A Sensor-Based TinyML Acoustic Monitoring System for Edge-Side Recognition on Resource-Constrained Microcontrollers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Wang &amp; Yu · Sensors (MDPI), 26(13), art. 3972, 2026 · DOI 10.3390/s26133972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End-to-end MFCC → INT8-quantized NN deployed fully offline on an Arduino-class MCU.   —   98.28% acc · 97.21% macro-F1 · ~26.9 KB deployed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956048"/>
            <a:ext cx="4114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937760"/>
            <a:ext cx="108292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Calibri"/>
              </a:rPr>
              <a:t>5.  Low resource multi-head self-attention based transformer for airborne acoustic classification system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5A5A6B"/>
                </a:solidFill>
                <a:latin typeface="Calibri"/>
              </a:rPr>
              <a:t>Mishra &amp; Ghosh · Journal on Audio, Speech, and Music Processing (Springer), 2026, art. 467 · DOI 10.1186/s13636-026-00467-0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114D"/>
                </a:solidFill>
                <a:latin typeface="Calibri"/>
              </a:rPr>
              <a:t>LAiT: inverted residual blocks + compact multi-head self-attention for real-time acoustic classification on low-power devices.   —   0.23 M params · &lt;1 MB memory · +1.18% over the ULNN lightweight baseline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Architecture diagram — overall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3 · 5 marks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3" y="948789"/>
            <a:ext cx="10150166" cy="386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7318" y="5083937"/>
            <a:ext cx="10617058" cy="877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A2E"/>
                </a:solidFill>
                <a:latin typeface="Calibri"/>
              </a:rPr>
              <a:t>Inference path (top) runs entirely on the device: no audio, and no features derived from audio, ever leave it. The training path (bottom) runs offline, once.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A5A6B"/>
                </a:solidFill>
                <a:latin typeface="Calibri"/>
              </a:rPr>
              <a:t>Serving note: the present build runs the model in a local FastAPI process reachable over the LAN from the phone browser — true in-phone inference (TFLite / ONNX Runtime Mobile) is the documented next step.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Module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4 · 5 marks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969264"/>
          <a:ext cx="11057838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3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1. Data acquisition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scripts/01_download_notes.md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Provenance log: exact commands, sources and licences for every dataset pulled.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2. Manifest builder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scripts/02_build_manifest.py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Maps every source file to one of 5 classes; caps the over-represented ambience class.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3. Preprocessing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scripts/03_preprocess_audio.py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Resample 16 kHz, mono, denoise, 1 s windows @ 50% overlap; 70/15/15 split at SOURCE-FILE level (no window leakage).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4. Feature extraction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scripts/04_extract_features.py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Pre-computes log-mel (64×101) and MFCC (40×101) to .npy — removed a Windows multiprocessing bottleneck (25–30× speed-up).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5. Training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scripts/06_train.py, 08_train_distilled_transformer.py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Trains each architecture; class-weighted loss; checkpoints on val macro-recall.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6. Hyper-parameter search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scripts/09_hparam_search.py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Optuna search over lr / batch / dropout / hidden size, then retrains the winner.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7. Evaluation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scripts/10_evaluate.py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Test metrics, per-class report, confusion matrix, latency, size — appends to reports/eval_results.md.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8. Quantise &amp; export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scripts/11_quantize_export.py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Dynamic PTQ (qint8) + exports the champion bundle to models/exported/.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9. Calibration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scripts/12_calibrate_logits.py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Fits a per-class logit bias on the val split under a hazard-recall constraint.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10. Serving + UI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server/app.py, inference.py, static/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19" b="0">
                          <a:solidFill>
                            <a:srgbClr val="1A1A2E"/>
                          </a:solidFill>
                          <a:latin typeface="Calibri"/>
                        </a:rPr>
                        <a:t>FastAPI /predict and /health; mobile-styled web app (Home / History / Settings).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Performance metrics — definition &amp; suitability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5 · 3 marks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23410" y="961901"/>
          <a:ext cx="9944871" cy="4144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1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8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5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Why suitable for SafeScape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Best in literature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525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(TP+TN) / all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Overall correctness across the 5 classes.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Easy to communicate, but misleading here: ambience is 63% of windows.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93.2% [Altayeva 2026]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525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Macro recall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mean of per-class recall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Averages recall over classes, ignoring frequency.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The model-selection metric — treats a rare hazard as equally important as common ambience.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525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Per-class precision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TP / (TP+FP)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Of windows flagged class c, how many truly are.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Governs false-alarm rate: low precision on a hazard class means nuisance alerts.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0.66–0.99 [Altayeva 2026]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525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Per-class recall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TP / (TP+FN)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Of true class-c windows, how many were caught.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The safety-critical metric: a miss is a hazard that goes unreported.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0.58–0.87 [Altayeva 2026]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525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distress_call recall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recall of the scream class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Detection rate on the flagship SDG-5 class.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Called out separately: the proposal’s RQ4 states a missed danger costs far more than a false alarm.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525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harmonic mean of macro P &amp; R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Balances the two under imbalance.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Calibration objective — but constrained so it cannot buy precision with hazard recall.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0.86 [Altayeva 2026]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525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CPU latency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ms per 1 s window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Wall-clock inference on the serving target.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Must sit far below the 1 s window for the rolling pipeline to keep up in real time.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14.8 ms [Altayeva 2026]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525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Model size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KB on disk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Deployed footprint after quantisation.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The low-cost / on-device constraint from the proposal brief.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~26.9 KB [Wang 2026]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3410" y="5715178"/>
            <a:ext cx="9944874" cy="2467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1">
                <a:solidFill>
                  <a:srgbClr val="5A5A6B"/>
                </a:solidFill>
                <a:latin typeface="Calibri"/>
              </a:rPr>
              <a:t>Literature values come from the surveyed papers; datasets differ (ESC-50 / UrbanSound8K / custom 8-class sets), so they are reference points, not like-for-like comparisons.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Deep learning architecture — log-mel CRNN (champion)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6 · 5 marks</a:t>
            </a:r>
          </a:p>
        </p:txBody>
      </p:sp>
      <p:pic>
        <p:nvPicPr>
          <p:cNvPr id="6" name="Picture 5" descr="cr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578" y="913054"/>
            <a:ext cx="9106537" cy="27531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3738" y="3844088"/>
            <a:ext cx="5252142" cy="2117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NOVELTY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Multi-class hazard taxonomy, not a single scream-vs-not detector — richer, more actionable alerts than Renesas / IIIT-Delhi single-class systems.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Architecture comparison as a first-class deliverable: three models, one dataset, one split, reported on accuracy vs. latency vs. size.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Safety-constrained post-hoc calibration: the operating point is chosen under an explicit hazard-recall floor, not by maximising a headline metric.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0718" y="3844088"/>
            <a:ext cx="4797238" cy="2117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WHY CRNN OVER PLAIN CNN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Frequency-only pooling (2,1) preserves all 101 time frames, so the BiGRU sees the full temporal evolution of the second. A scream is defined as much by its pitch contour over time as by any single frame — exactly the information an MFCC-CNN discards when it average-pools to a single vector.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6114D"/>
                </a:solidFill>
                <a:latin typeface="Calibri"/>
              </a:rPr>
              <a:t>Result: +18.2 accuracy points over the MFCC-CNN on identical data — and 89.8% once the dataset imbalance is fixed too.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Deep learning architecture — MFCC-CNN (baseline)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6 · 5 marks</a:t>
            </a:r>
          </a:p>
        </p:txBody>
      </p:sp>
      <p:pic>
        <p:nvPicPr>
          <p:cNvPr id="9" name="Picture 8" descr="mfcc_cnn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7" y="868680"/>
            <a:ext cx="10424160" cy="226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" y="329184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TRAINING SETUP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Input: 40 MFCCs per 10 ms frame (n_fft 512, hop 160 at 16 kHz) → a 40 × 101 matrix per 1 s window, z-normalised per window.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Optuna TPE search, 8 trials × 6 epochs → lr 1.25 × 10⁻³, batch 64, dropout 0.253; winner retrained for up to 25 epochs.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AdamW (weight decay 10⁻⁴), class-weighted cross-entropy (w_c ∝ 1/n_c). Early stopping (patience 6) ended at epoch 22; best checkpoint at epoch 16 (val macro-recall 0.646).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Augmentation: SpecAugment frequency/time masking plus Gaussian feature noise, applied to 70% of hazard windows and 30% of ambience windows.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Dynamic INT8 quantisation gives nothing (248.6 → 249.3 KB): it only touches Linear/GRU layers, and 99.5% of this model's weights are convolutions. Static PTQ or QAT is the route to compress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2918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TEST RESULTS — PER CLASS (same split as the CRNN, 2,799 windows)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675120" y="3566160"/>
          <a:ext cx="46634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822960"/>
                <a:gridCol w="822960"/>
              </a:tblGrid>
              <a:tr h="228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0.811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843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0.072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0.133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0.148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0.617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0.239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0.276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0.415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0.876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0.749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1,775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macro avg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0.436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0.733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0.453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2,799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6675120" y="530352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6114D"/>
                </a:solidFill>
                <a:latin typeface="Calibri"/>
              </a:rPr>
              <a:t>Verdict: fastest and smallest of the three (0.44 ms, 248.6 KB) with high hazard recall — but it over-fires. glass_break precision 0.072 is ~13 false alarms per correct one, and 1 in 3 ambience windows is flagged as a hazard.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Deep learning architecture — Distilled Tiny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6 · 5 marks</a:t>
            </a:r>
          </a:p>
        </p:txBody>
      </p:sp>
      <p:pic>
        <p:nvPicPr>
          <p:cNvPr id="9" name="Picture 8" descr="transforme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367" y="841248"/>
            <a:ext cx="7680960" cy="2342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" y="329184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TRAINING SETUP — KNOWLEDGE DISTILLATION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Teacher: the log-mel CRNN (hidden 128, 84.5% test accuracy), weights frozen; teacher and student see the same augmented log-mel window.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Loss: L = α·CE_w(y, z_s) + (1 − α)·T²·KL(softmax(z_t/T) ‖ softmax(z_s/T)), α = 0.5, T = 4. The softened teacher output carries class-similarity information one-hot labels lack; T² keeps both terms on the same gradient scale.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AdamW lr 10⁻³, weight decay 10⁻⁴, batch 32, class-weighted CE; not Optuna-tuned. Early stopping (patience 6) ended at epoch 18; best checkpoint at epoch 12 (val macro-recall 0.687).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Attention is O(T²·d) over 102 tokens but fully parallel → 0.48 ms. Shipped FP32 (339 KB); being all-Linear, dynamic INT8 quantisation would apply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2918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TEST RESULTS — PER CLASS (same split as the CRNN, 2,799 windows)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675120" y="3566160"/>
          <a:ext cx="46634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822960"/>
                <a:gridCol w="822960"/>
              </a:tblGrid>
              <a:tr h="228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0.687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0.733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843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0.167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0.275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0.152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0.830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0.257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0.460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0.643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0.536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0.810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1,775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macro avg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0.486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0.742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0.522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2,799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6675120" y="530352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B6114D"/>
                </a:solidFill>
                <a:latin typeface="Calibri"/>
              </a:rPr>
              <a:t>Verdict: +6.9 accuracy points over the MFCC-CNN at the same sub-millisecond latency, ~6× fewer parameters than its teacher — yet 11 points behind it: with no conv front-end, two small attention layers must learn spectral texture alone.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Time &amp; space complexity — three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6 · 5 marks</a:t>
            </a:r>
          </a:p>
        </p:txBody>
      </p:sp>
      <p:pic>
        <p:nvPicPr>
          <p:cNvPr id="6" name="Picture 5" descr="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36" y="896112"/>
            <a:ext cx="6800621" cy="238486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23410" y="3494789"/>
          <a:ext cx="9944871" cy="2039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47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16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9867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Asymptotic cost (per 1 s window)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CPU latency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867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MFCC-CNN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O(K²·C_in·C_out·F·T) per conv layer — 4 conv blocks, no recurrence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60,901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248.6 KB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0.44 ms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66.6%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867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log-mel CRNN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conv as above + O(T·(D·h + h²)) for the BiGRU — sequential in T, cannot parallelise over time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499,237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516.4 KB int8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11.6 ms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1">
                          <a:solidFill>
                            <a:srgbClr val="1A1A2E"/>
                          </a:solidFill>
                          <a:latin typeface="Calibri"/>
                        </a:rPr>
                        <a:t>89.8%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867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Tiny Transformer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O(T²·d) self-attention — quadratic in the 101 frames, but fully parallel over 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84,293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339.0 KB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0.48 ms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73.5%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3410" y="5715178"/>
            <a:ext cx="9944874" cy="2467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1">
                <a:solidFill>
                  <a:srgbClr val="5A5A6B"/>
                </a:solidFill>
                <a:latin typeface="Calibri"/>
              </a:rPr>
              <a:t>The CRNN’s recurrence makes it the slowest of the three, yet 11.6 ms is still ~85× under the 1 s window budget — so accuracy, not speed, is the binding constraint 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Algorithm procedure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7 · 5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811" y="929883"/>
            <a:ext cx="5192420" cy="4474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1 · Framing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x[n] sampled at fₛ = 16 kHz, segmented into 1 s windows of N = 16,000 samples with 50% hop (8,000 samples).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2 · STFT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X(m, k) = Σₙ x[n + mR]·w[n]·e^(−j2πkn/N_FFT), Hann window w, hop R → 101 frames.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3 · Mel filterbank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M(m, b) = Σₖ |X(m, k)|²·H_b(k), with B = 64 triangular filters spaced on mel(f) = 2595·log₁₀(1 + f/700).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4 · Log compression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S(m, b) = log(M(m, b) + ε), then per-feature normalisation → input tensor (1, 64, 101).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4b · MFCC branch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c(m, i) = Σ_b S(m, b)·cos[πi(b + ½)/B] — DCT of the log-mel, keeping 40 coefficients.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635" y="929883"/>
            <a:ext cx="4781248" cy="4474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5 · Convolutional encoder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Hₗ = MaxPool₍₂,₁₎(ReLU(BN(Wₗ * Hₗ₋₁ + bₗ))), two blocks, 1→16→32 channels; frequency 64→16, time preserved.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6 · Reshape to sequence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(B, 32, 16, 101) → (B, 101, 512): each time frame becomes a 512-dim token.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7 · BiGRU recurrence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zₜ = σ(W_z·[hₜ₋₁, xₜ]),  rₜ = σ(W_r·[hₜ₋₁, xₜ]),  h̃ₜ = tanh(W·[rₜ ⊙ hₜ₋₁, xₜ]),  hₜ = (1 − zₜ) ⊙ hₜ₋₁ + zₜ ⊙ h̃ₜ;  forward and backward.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8 · Temporal pooling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h̄ = (1/T)·Σₜ hₜ  →  logits ℓ = W_fc·h̄ + b_fc ∈ ℝ⁵.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9 · Calibration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ℓ̃_c = ℓ_c + β_c, with β = [+0.4, −0.2, 0.0, −0.6, 0.0] fitted on validation (see rubric 8).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10 · Decision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p = softmax(ℓ̃),  ŷ = argmax_c p_c;  alert if ŷ ∈ {distress_call, glass_break, horn_skid, alarm}.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811" y="5455310"/>
            <a:ext cx="5192420" cy="506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B6114D"/>
                </a:solidFill>
                <a:latin typeface="Calibri"/>
              </a:rPr>
              <a:t>Training loss:  L = −Σ_c w_c·y_c·log p_c,  class weights w_c ∝ 1/n_c (inverse frequency) to protect rare hazards.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Hyper-parameter details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8 · 5 marks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969264"/>
          <a:ext cx="11057837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9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Hyper-parameter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How chosen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Justification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8.56 × 10⁻⁴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Optuna search, 8 trials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Best val macro-recall (0.751); higher rates (4.3×10⁻³) destabilised the GRU, lower (1.1×10⁻⁴) underfit in 25 epochs.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Optuna search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Smaller batches gave noisier but better-generalising updates on a 12.6k-window training set.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Hidden size (GRU)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Optuna search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32 and 64 both underperformed (0.69–0.70 vs 0.751); 128 doubles capacity for ~4× params, still only 516 KB quantised.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Dropout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0.269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Optuna search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Tuned jointly with the above; regularises the 499k-param model against a modest dataset.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Checkpointed on best val macro-recall, so extra epochs cannot overfit the selected weights.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Weight decay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1 × 10⁻⁴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Fixed default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Standard mild L2; not a sensitive axis in preliminary runs.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Class weights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∝ 1 / n_c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Derived from train split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Hazards are 2–70× rarer than ambience; inverse-frequency weighting stops collapse to the majority class.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Window / hop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1.0 s / 50%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Fixed by design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Matches the proposal’s near-real-time requirement and the 1 s convention in comparable work (Omarov 2025).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Quantisation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dynamic PTQ, qint8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Post-training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−73.6% size with ≤0.001 metric change; Linear/GRU layers only, which is where CRNN parameters live.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Calibration bias β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[+0.4, −0.2, 0, −0.6, 0]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Coordinate ascent on val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80" b="0">
                          <a:solidFill>
                            <a:srgbClr val="1A1A2E"/>
                          </a:solidFill>
                          <a:latin typeface="Calibri"/>
                        </a:rPr>
                        <a:t>Maximises macro-F1 subject to a hazard-recall floor (≥ uncalibrated − 0.02). See next slide.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Results — architecture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9 · 3 marks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2924" y="913520"/>
          <a:ext cx="10525841" cy="2297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3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4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9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35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97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Macro recall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Macro precision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distress recall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79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MFCC-CNN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66.6%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73.3%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0.436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60,901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0.44 ms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79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Tiny Transformer (distilled)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73.5%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74.2%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0.486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68.7%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84,293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0.48 ms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79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log-mel CRNN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84.5%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79.2%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82.3%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499,237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6.44 ms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79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log-mel CRNN + calibration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84.8%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78.4%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0.598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85.6%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499,237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6.64 ms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979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log-mel CRNN + expanded data + calibration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89.8%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86.5%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0.849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88.2%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499,237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11.6 ms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logmel_crnn_v2_calibrated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9" y="3341173"/>
            <a:ext cx="3290143" cy="27417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45312" y="3341173"/>
            <a:ext cx="6713458" cy="2785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C00000"/>
                </a:solidFill>
                <a:latin typeface="Calibri"/>
              </a:rPr>
              <a:t>INFERENCE FROM THE RESULTS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The CRNN wins decisively on accuracy (+18.2 pts over the CNN, +11.3 over the transformer) because temporal modelling matters for these classes.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Quantisation is nearly free: −73.6% size for ≤0.001 change in every metric — the on-device constraint costs essentially no accuracy.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Latency is not the binding constraint: even the slowest model runs 85× faster than the 1 s window it consumes.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The first four rows share one dataset and split, so they compare like for like. The final row retrains the champion on an EXPANDED dataset and is therefore measured on a different, larger test set (3,220 vs 2,799 windows) — it is a data result, not an architecture result, and is kept separate for that reason.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Macro precision is the headline: 0.598 → 0.849. Class imbalance, not architecture, was the binding limitation all along (see “Results — fixing the two weakest classes”).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Results — per-class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9 · 3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291840"/>
            <a:ext cx="30632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WHAT THE PER-CLASS VIEW ADDS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distress_call: CRNN recall 0.823 vs 0.687 / 0.667 — 132 more screams caught (of 843) than the CNN.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False alarms: the CNN flags 614 of 1,775 ambience windows (35%) as hazards; the CRNN 236 (13%).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The CNN's alarm and the Transformer's horn_skid recall beat the CRNN only by over-predicting: precision 0.276 / 0.152.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▪  All three fail the same way on glass_break / horn_skid (40 source clips each) — a data problem, fixed on the next slide.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32104" y="914400"/>
          <a:ext cx="10524744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914400"/>
                <a:gridCol w="1335024"/>
                <a:gridCol w="1335024"/>
                <a:gridCol w="1335024"/>
                <a:gridCol w="1335024"/>
                <a:gridCol w="1335024"/>
                <a:gridCol w="1335024"/>
              </a:tblGrid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MFCC-CNN  P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MFCC-CNN  R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Transformer  P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Transformer  R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CRNN  P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CRNN  R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843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0.811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0.687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0.862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0.823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0.072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0.167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0.258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0.148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0.617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0.152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0.830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0.242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0.638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0.276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0.460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0.643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0.639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0.739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1,775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0.876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0.921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macro avg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2,799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0.436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0.733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0.486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0.742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2,799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0.666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>0.735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A1A2E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mfcc_cnn_remeasure_confusion_matrix.png"/>
          <p:cNvPicPr>
            <a:picLocks noChangeAspect="1"/>
          </p:cNvPicPr>
          <p:nvPr/>
        </p:nvPicPr>
        <p:blipFill>
          <a:blip r:embed="rId3"/>
          <a:srcRect t="7000"/>
          <a:stretch>
            <a:fillRect/>
          </a:stretch>
        </p:blipFill>
        <p:spPr>
          <a:xfrm>
            <a:off x="832104" y="3520440"/>
            <a:ext cx="2331720" cy="180708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52144" y="3291840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MFCC-CNN</a:t>
            </a:r>
          </a:p>
        </p:txBody>
      </p:sp>
      <p:pic>
        <p:nvPicPr>
          <p:cNvPr id="12" name="Picture 11" descr="transformer_remeasure_confusion_matrix.png"/>
          <p:cNvPicPr>
            <a:picLocks noChangeAspect="1"/>
          </p:cNvPicPr>
          <p:nvPr/>
        </p:nvPicPr>
        <p:blipFill>
          <a:blip r:embed="rId4"/>
          <a:srcRect t="7000"/>
          <a:stretch>
            <a:fillRect/>
          </a:stretch>
        </p:blipFill>
        <p:spPr>
          <a:xfrm>
            <a:off x="3300984" y="3520440"/>
            <a:ext cx="2331720" cy="1807083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621024" y="3291840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TINY TRANSFORMER (DISTILLED)</a:t>
            </a:r>
          </a:p>
        </p:txBody>
      </p:sp>
      <p:pic>
        <p:nvPicPr>
          <p:cNvPr id="14" name="Picture 13" descr="logmel_crnn_recheck_baseline_confusion_matrix.png"/>
          <p:cNvPicPr>
            <a:picLocks noChangeAspect="1"/>
          </p:cNvPicPr>
          <p:nvPr/>
        </p:nvPicPr>
        <p:blipFill>
          <a:blip r:embed="rId5"/>
          <a:srcRect t="7000"/>
          <a:stretch>
            <a:fillRect/>
          </a:stretch>
        </p:blipFill>
        <p:spPr>
          <a:xfrm>
            <a:off x="5769864" y="3520440"/>
            <a:ext cx="2331720" cy="1807083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089903" y="3291840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LOG-MEL CRNN (UNCALIBRATED)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Results — fixing the two weakest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9 · 3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6179" y="928326"/>
            <a:ext cx="9739336" cy="644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1A2E"/>
                </a:solidFill>
                <a:latin typeface="Calibri"/>
              </a:rPr>
              <a:t>Training used class-weighted loss to protect hazard recall — which pushes the decision boundary toward rare classes and costs precision. Calibration re-picks the operating point after training: one additive bias per class, fitted on validation only, no retraining.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26179" y="1669267"/>
          <a:ext cx="9739333" cy="1610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51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0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17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6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Objective (validation set)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Macro recall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glass_break R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horn_skid R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684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uncalibrated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0.662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0.758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0.844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0.560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684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unconstrained macro-F1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1">
                          <a:solidFill>
                            <a:srgbClr val="1A1A2E"/>
                          </a:solidFill>
                          <a:latin typeface="Calibri"/>
                        </a:rPr>
                        <a:t>0.863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1">
                          <a:solidFill>
                            <a:srgbClr val="1A1A2E"/>
                          </a:solidFill>
                          <a:latin typeface="Calibri"/>
                        </a:rPr>
                        <a:t>0.700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0.671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0.594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0.340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rejected — misses 2/3 of horn/skid events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684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1">
                          <a:solidFill>
                            <a:srgbClr val="1A1A2E"/>
                          </a:solidFill>
                          <a:latin typeface="Calibri"/>
                        </a:rPr>
                        <a:t>safety-constrained (shipped)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0.844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0.672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1">
                          <a:solidFill>
                            <a:srgbClr val="1A1A2E"/>
                          </a:solidFill>
                          <a:latin typeface="Calibri"/>
                        </a:rPr>
                        <a:t>0.758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1">
                          <a:solidFill>
                            <a:srgbClr val="1A1A2E"/>
                          </a:solidFill>
                          <a:latin typeface="Calibri"/>
                        </a:rPr>
                        <a:t>0.844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1">
                          <a:solidFill>
                            <a:srgbClr val="1A1A2E"/>
                          </a:solidFill>
                          <a:latin typeface="Calibri"/>
                        </a:rPr>
                        <a:t>0.560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keeps every hazard recall, takes free precision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26179" y="3392758"/>
            <a:ext cx="4912755" cy="24161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C00000"/>
                </a:solidFill>
                <a:latin typeface="Calibri"/>
              </a:rPr>
              <a:t>THE DESIGN DECISION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A2E"/>
                </a:solidFill>
                <a:latin typeface="Calibri"/>
              </a:rPr>
              <a:t>Maximising macro-F1 without constraints produces the best-looking headline numbers (+1.8 accuracy, +3.8 macro-F1) — and is the wrong answer. It buys that precision by collapsing horn_skid recall to 0.340, i.e. missing two thirds of those events.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A2E"/>
                </a:solidFill>
                <a:latin typeface="Calibri"/>
              </a:rPr>
              <a:t>That contradicts RQ4 of the proposal: a missed danger event costs far more than a false alarm. The shipped calibration therefore maximises macro-F1 subject to a floor on every hazard class’s recall.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B6114D"/>
                </a:solidFill>
                <a:latin typeface="Calibri"/>
              </a:rPr>
              <a:t>Chosen bias β = [+0.4, −0.2, 0.0, −0.6, 0.0]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4706" y="3392758"/>
            <a:ext cx="4560808" cy="281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C00000"/>
                </a:solidFill>
                <a:latin typeface="Calibri"/>
              </a:rPr>
              <a:t>STEP 2 — MORE DATA FOR THE THIN CLASSES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4706" y="3682691"/>
          <a:ext cx="4560807" cy="1771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7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40-clip classes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expanded data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0.283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0.684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2.4×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0.246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0.832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3.4×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0.694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0.910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+0.216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0.840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+0.075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0.903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0">
                          <a:solidFill>
                            <a:srgbClr val="1A1A2E"/>
                          </a:solidFill>
                          <a:latin typeface="Calibri"/>
                        </a:rPr>
                        <a:t>−0.025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macro precision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0.598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0.849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+0.251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0.848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0.898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850" b="1">
                          <a:solidFill>
                            <a:srgbClr val="1A1A2E"/>
                          </a:solidFill>
                          <a:latin typeface="Calibri"/>
                        </a:rPr>
                        <a:t>+5.0 pts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4706" y="5559203"/>
            <a:ext cx="4560808" cy="4026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B6114D"/>
                </a:solidFill>
                <a:latin typeface="Calibri"/>
              </a:rPr>
              <a:t>UrbanSound8K supplied 167 car-horn and 435 siren clips, plus 630 urban hard negatives; DataSEC and Freesound CC0 added 73 glass clips. Calibration alone could not fix precision — the data scarcity had to go.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Dataset — sources, construction &amp;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10 · 3 marks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23410" y="961901"/>
          <a:ext cx="9944872" cy="2039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9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3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96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9867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Classes contributed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Licence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marL="64008" marR="6400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867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ESC-50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glass_break, horn_skid (car horn), alarm (clock alarm, siren), ambience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2,000 clips · 50 categories · 5 s each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CC BY-NC 3.0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github.com/karolpiczak/ESC-50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867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Human Screaming Detection (Kaggle)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distress_call — primary source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screaming vs non-screaming clips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Kaggle terms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kaggle.com/datasets/whats2000/</a:t>
                      </a:r>
                    </a:p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human-screaming-detection-dataset</a:t>
                      </a:r>
                    </a:p>
                  </a:txBody>
                  <a:tcPr marL="64008" marR="64008" marT="18288" marB="18288" anchor="ctr"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867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RAVDESS speech (Zenodo)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distress_call — supplement only (emotion 05 angry, 06 fearful)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24 actors · acted emotional speech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CC BY-NC-SA 4.0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00" b="0">
                          <a:solidFill>
                            <a:srgbClr val="1A1A2E"/>
                          </a:solidFill>
                          <a:latin typeface="Calibri"/>
                        </a:rPr>
                        <a:t>zenodo.org/record/1188976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3410" y="3149395"/>
            <a:ext cx="5016434" cy="2467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CONSTRUCTION &amp; CHALLENGES ADDRESSED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A2E"/>
                </a:solidFill>
                <a:latin typeface="Calibri"/>
              </a:rPr>
              <a:t>▪  Resampled to 16 kHz mono and denoised before feature extraction.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A2E"/>
                </a:solidFill>
                <a:latin typeface="Calibri"/>
              </a:rPr>
              <a:t>▪  Windowed into 1 s segments at 50% overlap → 18,130 windows (12,619 train / 2,712 val / 2,799 test).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A2E"/>
                </a:solidFill>
                <a:latin typeface="Calibri"/>
              </a:rPr>
              <a:t>▪  Split performed at SOURCE-FILE level, not window level — no window from one recording can appear in two splits, which would inflate accuracy.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A2E"/>
                </a:solidFill>
                <a:latin typeface="Calibri"/>
              </a:rPr>
              <a:t>▪  Ambience deliberately capped; class-weighted loss compensates for the residual 2–70× imbalance.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A2E"/>
                </a:solidFill>
                <a:latin typeface="Calibri"/>
              </a:rPr>
              <a:t>▪  Ethics: only public, licensed, acted recordings — no real victims, no non-consenting bystanders.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1225" y="3149395"/>
            <a:ext cx="4657059" cy="131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</a:rPr>
              <a:t>NOVELTY OF THE DATASET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A2E"/>
                </a:solidFill>
                <a:latin typeface="Calibri"/>
              </a:rPr>
              <a:t>The contribution is the assembled 5-class safety taxonomy: no single public corpus covers distress_call, glass_break, horn_skid, alarm and ambience together. Three sources with different licences, sample rates and labelling conventions are unified into one consistently-windowed, source-disjoint benchmark.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1225" y="4448734"/>
            <a:ext cx="4657059" cy="986839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75698" y="4563865"/>
            <a:ext cx="4328113" cy="863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00000"/>
                </a:solidFill>
                <a:latin typeface="Calibri"/>
              </a:rPr>
              <a:t>HONEST LIMITATION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A1A2E"/>
                </a:solidFill>
                <a:latin typeface="Calibri"/>
              </a:rPr>
              <a:t>The proposal planned self-recorded, India-context campus audio. Under the deadline the implementation used public datasets only, and distress_call leans on acted/emotional speech. Self-collection is stated future work — not claimed as done.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410" y="5715178"/>
            <a:ext cx="9944874" cy="2467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1">
                <a:solidFill>
                  <a:srgbClr val="5A5A6B"/>
                </a:solidFill>
                <a:latin typeface="Calibri"/>
              </a:rPr>
              <a:t>IEEE DataPort: the datasets actually used are hosted on GitHub / Kaggle / Zenodo, not IEEE DataPort — confirm with the reviewer whether an IEEE DataPort URL is mandatory for this item.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UI screens — mobile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11 · 5 marks</a:t>
            </a:r>
          </a:p>
        </p:txBody>
      </p:sp>
      <p:pic>
        <p:nvPicPr>
          <p:cNvPr id="6" name="Picture 5" descr="ui_home_list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44" y="978348"/>
            <a:ext cx="2055915" cy="3700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410" y="4794127"/>
            <a:ext cx="2301185" cy="411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2E"/>
                </a:solidFill>
                <a:latin typeface="Calibri"/>
              </a:rPr>
              <a:t>Home — armed, monitoring</a:t>
            </a:r>
          </a:p>
        </p:txBody>
      </p:sp>
      <p:pic>
        <p:nvPicPr>
          <p:cNvPr id="8" name="Picture 7" descr="ui_home_ha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941" y="978348"/>
            <a:ext cx="2055915" cy="3700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71305" y="4794127"/>
            <a:ext cx="2301185" cy="411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2E"/>
                </a:solidFill>
                <a:latin typeface="Calibri"/>
              </a:rPr>
              <a:t>Home — hazard detected</a:t>
            </a:r>
          </a:p>
        </p:txBody>
      </p:sp>
      <p:pic>
        <p:nvPicPr>
          <p:cNvPr id="10" name="Picture 9" descr="ui_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837" y="978348"/>
            <a:ext cx="2055915" cy="3700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9201" y="4794127"/>
            <a:ext cx="2301185" cy="411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2E"/>
                </a:solidFill>
                <a:latin typeface="Calibri"/>
              </a:rPr>
              <a:t>Alert history</a:t>
            </a:r>
          </a:p>
        </p:txBody>
      </p:sp>
      <p:pic>
        <p:nvPicPr>
          <p:cNvPr id="12" name="Picture 11" descr="ui_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733" y="978348"/>
            <a:ext cx="2055915" cy="37006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67098" y="4794127"/>
            <a:ext cx="2301185" cy="411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1A2E"/>
                </a:solidFill>
                <a:latin typeface="Calibri"/>
              </a:rPr>
              <a:t>Settings — server &amp; 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410" y="5715178"/>
            <a:ext cx="9944874" cy="2467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1">
                <a:solidFill>
                  <a:srgbClr val="5A5A6B"/>
                </a:solidFill>
                <a:latin typeface="Calibri"/>
              </a:rPr>
              <a:t>Live screenshots from the running application (FastAPI + static web app), not mockups. Three screens: Home (arm/disarm + live status), History (persisted alerts), Settings (server URL + connectivity test).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Standard paper for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5A6B"/>
                </a:solidFill>
                <a:latin typeface="Calibri"/>
              </a:rPr>
              <a:t>Rubric 12 · 2 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914" y="1002387"/>
            <a:ext cx="10709865" cy="1257587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1177" y="1161799"/>
            <a:ext cx="10267052" cy="106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1A1A2E"/>
                </a:solidFill>
                <a:latin typeface="Calibri"/>
              </a:rPr>
              <a:t>Scream and gunshot detection and localization for audio-surveillance systems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A5A6B"/>
                </a:solidFill>
                <a:latin typeface="Calibri"/>
              </a:rPr>
              <a:t>Valenzise, Gerosa, Tagliasacchi, Antonacci &amp; Sarti (Politecnico di Milano)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6114D"/>
                </a:solidFill>
                <a:latin typeface="Calibri"/>
              </a:rPr>
              <a:t>IEEE Conf. on Advanced Video and Signal Based Surveillance (AVSS), pp. 21–26, 2007  ·  DOI 10.1109/AVSS.2007.4425280  ·  ~394 citations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914" y="2525662"/>
            <a:ext cx="10709865" cy="2656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C00000"/>
                </a:solidFill>
                <a:latin typeface="Calibri"/>
              </a:rPr>
              <a:t>JUSTIFICATION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▪  Defines the exact task SafeScape modernises: automatically recognising human distress vocalisations and impulsive hazard sounds from ambient audio for public-safety response.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▪  Its scream-vs-ambience discrimination problem is literally SafeScape's core class boundary.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▪  Most-cited foundational work in acoustic hazard detection — nearly every later scream / glass-break detection paper traces back to 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▪  SafeScape's contribution reads as the natural update: hand-tuned GMMs → deep models, and a fixed camera-steering installation → a fully offline personal device.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914" y="5271100"/>
            <a:ext cx="10709865" cy="690787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177" y="5412800"/>
            <a:ext cx="10267052" cy="487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A5A6B"/>
                </a:solidFill>
                <a:latin typeface="Calibri"/>
              </a:rPr>
              <a:t>Journal alternative if required: Foggia et al., "Audio Surveillance of Roads: A System for Detecting Anomalous Sounds," IEEE Trans. Intelligent Transportation Systems, 17(1), 279–288, 2016, DOI 10.1109/TITS.2015.2470216 — maps directly onto the horn_skid class.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032"/>
            <a:ext cx="11247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Status, 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557784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6114D"/>
                </a:solidFill>
                <a:latin typeface="Calibri"/>
              </a:rPr>
              <a:t>DELIVERED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1A1A2E"/>
                </a:solidFill>
                <a:latin typeface="Calibri"/>
              </a:rPr>
              <a:t>▪  Full pipeline: acquisition → preprocessing → features → 3 trained architectures → Optuna search → evaluation → quantisation → calibration → serving.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1A1A2E"/>
                </a:solidFill>
                <a:latin typeface="Calibri"/>
              </a:rPr>
              <a:t>▪  Champion model: log-mel CRNN — 89.8% test accuracy, 0.849 macro precision, 88.2% distress-call recall, 516 KB quantised, 11.6 ms per window.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1A1A2E"/>
                </a:solidFill>
                <a:latin typeface="Calibri"/>
              </a:rPr>
              <a:t>▪  Working demo: FastAPI server + mobile web app, verified end-to-end on held-out clips.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1A1A2E"/>
                </a:solidFill>
                <a:latin typeface="Calibri"/>
              </a:rPr>
              <a:t>▪  Reproducible: every number in this deck regenerates from scripts in the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005840"/>
            <a:ext cx="5178247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LIMITATIONS &amp; NEXT STEPS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1A1A2E"/>
                </a:solidFill>
                <a:latin typeface="Calibri"/>
              </a:rPr>
              <a:t>▪  Dataset: public corpora only; distress_call leans on acted emotional speech. Self-recorded India-context audio is the most valuable next addition.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1A1A2E"/>
                </a:solidFill>
                <a:latin typeface="Calibri"/>
              </a:rPr>
              <a:t>▪  glass_break and horn_skid have only 40 source clips each — precision on them stays low. More data for these two classes is the highest-leverage improvement available.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1A1A2E"/>
                </a:solidFill>
                <a:latin typeface="Calibri"/>
              </a:rPr>
              <a:t>▪  Serving is a LAN-reachable laptop process, not in-phone inference; TFLite / ONNX Runtime Mobile export is the documented next step.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1A1A2E"/>
                </a:solidFill>
                <a:latin typeface="Calibri"/>
              </a:rPr>
              <a:t>▪  Dynamic PTQ cannot quantise conv layers — static quantisation or QAT would compress the CNN branch too.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0" i="0">
                <a:solidFill>
                  <a:srgbClr val="1A1A2E"/>
                </a:solidFill>
                <a:latin typeface="Calibri"/>
              </a:rPr>
              <a:t>▪  Alarm recall fell 6.9 pts under calibration; a floor tuned on a larger validation set would likely recover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40</TotalTime>
  <Words>5138</Words>
  <Application>Microsoft Office PowerPoint</Application>
  <PresentationFormat>Widescreen</PresentationFormat>
  <Paragraphs>516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SafeScape - On-Device Acoustic Distress and Hazard Recognition</dc:title>
  <dc:subject>PptxGenJS Presentation</dc:subject>
  <dc:creator>Amruth Rohan KR; Harish Venkat VS</dc:creator>
  <cp:lastModifiedBy>Harish Venkat V S-[CB.EN.U4ECE23219]</cp:lastModifiedBy>
  <cp:revision>10</cp:revision>
  <dcterms:created xsi:type="dcterms:W3CDTF">2026-08-20T08:53:47Z</dcterms:created>
  <dcterms:modified xsi:type="dcterms:W3CDTF">2026-10-01T03:40:57Z</dcterms:modified>
</cp:coreProperties>
</file>