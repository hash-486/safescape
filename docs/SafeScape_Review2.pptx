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27"/>
  </p:notesMasterIdLst>
  <p:sldIdLst>
    <p:sldId id="257" r:id="rId6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3.xml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4.xml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theme" Target="../theme/theme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4.jpg"/><Relationship Id="rId5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SafeScape — On-Device Acoustic Distress &amp; Hazard Recognition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                                                                                    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Research-Product-Software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Bagyammal T, Professor, CSE Department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395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74331"/>
              </p:ext>
            </p:extLst>
          </p:nvPr>
        </p:nvGraphicFramePr>
        <p:xfrm>
          <a:off x="640080" y="2743200"/>
          <a:ext cx="10908792" cy="2057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URL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Amruth Rohan KR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Cb.en.u4ece23222@cb.students.amrita.edu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9994454198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https://github.com/AmruthRohan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Harish Venkat VS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Cb.en.u4ece23219@cb.students.amrita.edu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8807792343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https://github.com/Hash-486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Product Demo: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[URL]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   GitHub Repository: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https://github.com/Hash-486/SafeScape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63E79-8852-E211-BCE6-3E9C3F640AA7}"/>
              </a:ext>
            </a:extLst>
          </p:cNvPr>
          <p:cNvSpPr txBox="1"/>
          <p:nvPr/>
        </p:nvSpPr>
        <p:spPr>
          <a:xfrm>
            <a:off x="640080" y="5349240"/>
            <a:ext cx="99408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23CSE473 — Neural Networks and Deep Learning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9873AC-6BCB-B3A4-F87D-E18C7C236C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8" r="1708" b="6000"/>
          <a:stretch>
            <a:fillRect/>
          </a:stretch>
        </p:blipFill>
        <p:spPr>
          <a:xfrm>
            <a:off x="3792345" y="4032504"/>
            <a:ext cx="553468" cy="713232"/>
          </a:xfrm>
          <a:prstGeom prst="rect">
            <a:avLst/>
          </a:prstGeom>
          <a:ln w="9525">
            <a:solidFill>
              <a:srgbClr val="D7DCEA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100445-D966-8C52-294E-E8217B7606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200" r="11200"/>
          <a:stretch>
            <a:fillRect/>
          </a:stretch>
        </p:blipFill>
        <p:spPr>
          <a:xfrm>
            <a:off x="3792345" y="3209544"/>
            <a:ext cx="553468" cy="713232"/>
          </a:xfrm>
          <a:prstGeom prst="rect">
            <a:avLst/>
          </a:prstGeom>
          <a:ln w="9525">
            <a:solidFill>
              <a:srgbClr val="D7DC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9052560" y="38404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C00000"/>
                </a:solidFill>
                <a:latin typeface="Cambria"/>
              </a:rPr>
              <a:t>Review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Review 2 — one model per member, with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194560"/>
                <a:gridCol w="48463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is demonstrated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Amruth Rohan KR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MFCC-CNN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40 MFCCs × 101 frames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train/eval on the v2 dataset, per-class results, live classification of held-out clips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Harish Venkat VS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log-mel CRNN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64 log-mel × 101 frames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same, plus calibration and int8 quantization of the champion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Harish Venkat VS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Distilled Transformer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64 log-mel × 101 frames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distillation from the CRNN teacher, same evaluation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10896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COMMON GROUND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One dataset (v2), one source-file-disjoint split, one leak-free test set of 2,990 windows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Same metrics for every model: accuracy, macro-F1, distress-call recall, size, CPU latency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Each model is calibrated the same way, so they are compared at equivalent operating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Dataset — sources and class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1106424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datasec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esc50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966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1126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freesound_cc0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ravdess_supplement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scream_kaggle_1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urbansound8k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343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945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775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207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515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1309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2919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033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WHERE EACH CLASS COMES FROM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ESC-50 — glass, horn, siren, clock alarm, ambient scenes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Kaggle scream set + RAVDESS angry/fearful speech → distress_call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UrbanSound8K — car_horn → horn_skid, siren → alarm, 7 urban classes as hard-negative ambience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DataSEC + Freesound CC0 → extra glass_break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7033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DESIGN DECISIONS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UrbanSound8K gun_shot excluded: a real hazard with no class here — labelling it ambience would teach the model gunfire is normal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16 kHz mono, denoised, 1 s windows with 50% overlap, near-silent windows dropped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2,919 recordings → 21,917 windows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Dataset — leakage-free split and duplicate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60350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280160"/>
                <a:gridCol w="109728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test (leak-free)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removed from test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3704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782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549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445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764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2852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611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613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7741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1585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1608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15506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3191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2990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914400"/>
            <a:ext cx="4663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SPLIT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70 / 15 / 15, stratified, at the source-file level — every window of a recording stays on one side.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AUDIT — FOUND DURING THIS REVIEW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Hashing every source file showed the Kaggle scream set ships the same recordings in two folders. 230 test windows (all distress_call) were byte-identical to training audio.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Fix without retraining: flag them (18_flag_duplicate_sources.py) and report every number on the remaining 2,990 windows.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Impact was small (CRNN 89.8% → 89.7%), but every headline number is now on audio no model has heard.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Feature pipeline — shared by all three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39496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resample + mono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16 kHz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speech/hazard energy is below 8 kHz; smaller input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denoise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non-stationary spectral gating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suppress steady background before features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1.0 s, 50% hop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short enough for near-real-time, long enough for a scream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energy gate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RMS ≥ 1e-4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never train or predict on silence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STFT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512-pt FFT, 10 ms hop → 101 frames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10 ms resolution keeps glass transients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MFCC (CNN)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40 coefficients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compact cepstral summary of the spectrum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log-mel (CRNN, Transformer)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64 mel bands, dB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keeps spectral detail the DCT discards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normalise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per window, zero mean / unit var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loudness-invariant input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augment (train only)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SpecAugment masks + feature noise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regularise the rare classes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MFCC-CNN — Amruth Rohan KR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pic>
        <p:nvPicPr>
          <p:cNvPr id="4" name="Picture 3" descr="mfcc_c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278" y="868680"/>
            <a:ext cx="9702963" cy="233171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29000"/>
          <a:ext cx="4206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hyper-parameter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1.25e-3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batch / dropout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64 / 0.25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Optuna, val macro recall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25, early stop at 17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3429000"/>
          <a:ext cx="40233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68680"/>
                <a:gridCol w="868680"/>
                <a:gridCol w="8229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281160" y="33832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LEAK-FREE TEST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accuracy 79.2%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macro-F1 0.725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distress recall 80.3%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60,901 params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249 KB · 0.52 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log-mel CRNN — Harish Venkat 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pic>
        <p:nvPicPr>
          <p:cNvPr id="4" name="Picture 3" descr="cr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453" y="868680"/>
            <a:ext cx="7712612" cy="23317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29000"/>
          <a:ext cx="4206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hyper-parameter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8.56e-4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batch / dropout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16 / 0.27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GRU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128 units × 2 directions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compression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dynamic int8 → 516 KB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3429000"/>
          <a:ext cx="40233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68680"/>
                <a:gridCol w="868680"/>
                <a:gridCol w="8229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281160" y="33832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LEAK-FREE TEST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accuracy 89.7%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macro-F1 0.853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distress recall 86.5%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499,237 params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516 KB · 6.90 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Distilled Transformer — Harish Venkat 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pic>
        <p:nvPicPr>
          <p:cNvPr id="4" name="Picture 3" descr="transform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329" y="868680"/>
            <a:ext cx="6676861" cy="23317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429000"/>
          <a:ext cx="4206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hyper-parameter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teacher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v2 CRNN (frozen)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α / T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0.5 / 4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learning rate / batch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1e-3 / 32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25, early stop at 20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3429000"/>
          <a:ext cx="40233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68680"/>
                <a:gridCol w="868680"/>
                <a:gridCol w="8229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281160" y="33832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LEAK-FREE TEST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accuracy 83.8%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macro-F1 0.774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distress recall 82.5%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84,293 params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340 KB · 0.48 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Training — validation macro recall per epoch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pic>
        <p:nvPicPr>
          <p:cNvPr id="4" name="Picture 3" descr="training_curve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914400"/>
            <a:ext cx="7132320" cy="3668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0058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HOW EACH MODEL WAS SELECTED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Checkpoint = best validation macro recall, not lowest loss — recall on rare hazards is what matters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Early stopping after 6 epochs without improvement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Class-weighted cross-entropy (1 / class frequency) for all three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Then a per-class logit bias fitted on validation, with every hazard's recall floored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Results — confusion matrices per 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pic>
        <p:nvPicPr>
          <p:cNvPr id="4" name="Picture 3" descr="mfcc_cnn_v2_leakfre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30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MFCC-CNN · Amruth Rohan KR</a:t>
            </a:r>
          </a:p>
        </p:txBody>
      </p:sp>
      <p:pic>
        <p:nvPicPr>
          <p:cNvPr id="6" name="Picture 5" descr="logmel_crnn_v2_leakfree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914400"/>
            <a:ext cx="365760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196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log-mel CRNN · Harish Venkat VS</a:t>
            </a:r>
          </a:p>
        </p:txBody>
      </p:sp>
      <p:pic>
        <p:nvPicPr>
          <p:cNvPr id="8" name="Picture 7" descr="transformer_v2_leakfree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914400"/>
            <a:ext cx="3657600" cy="30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Distilled Transformer · Harish Venkat 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Rows are the true class. The dominant error for every model is ambience predicted as a hazard — the price of class-weighted training and recall-floored calibration, which deliberately prefer a false alarm to a missed scream.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Three-model comparison — leak-free test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097280"/>
                <a:gridCol w="1097280"/>
                <a:gridCol w="1371600"/>
                <a:gridCol w="1188720"/>
                <a:gridCol w="1280160"/>
                <a:gridCol w="11887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distress recall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served size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CPU / window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MFCC-CNN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Amruth Rohan KR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79.2%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80.3%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60,901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249 KB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0.52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log-mel CRNN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Harish Venkat VS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89.7%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0.853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86.5%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499,237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516 KB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6.90 ms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Distilled Transformer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Harish Venkat VS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83.8%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0.774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82.5%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84,293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340 KB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0.48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6583680" cy="2308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260604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READING THE TABLE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CRNN leads every quality metric: macro-F1 0.853 vs 0.774 / 0.725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Transformer: 17% of the CRNN's parameters, 14× faster per window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MFCC-CNN: smallest and fastest, weakest on glass_break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All three are far inside the 1 s real-time budget, so hazard recall decides: the quantized CRNN ships as the default.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2 · 5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EACH MEMBER RUNS THEIR OWN MODEL ON THE HELD-OUT TEST SET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cd scripts;  $env:SAFESCAPE_PROC_DIR = "data/processed_v2"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python 10_evaluate.py --arch mfcc_cnn --ckpt ../models/checkpoints/mfcc_cnn_v2.pt --calibration ../models/exported/mfcc_cnn/calibration.json --manifest ../data/processed_v2/windows_manifest_dedup.csv --cpu-only        (Amruth)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python 10_evaluate.py --arch logmel_crnn --hidden-size 128 --ckpt ../models/checkpoints/logmel_crnn_v2.pt --calibration ../models/exported/logmel_crnn/calibration.json --manifest ../data/processed_v2/windows_manifest_dedup.csv --cpu-only        (Harish)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python 10_evaluate.py --arch transformer --ckpt ../models/checkpoints/transformer_v2.pt --calibration ../models/exported/transformer/calibration.json --manifest ../data/processed_v2/windows_manifest_dedup.csv --cpu-only        (Harish)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THEN THE SAME MODEL ON A SINGLE CLIP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python run_demo.py  →  http://127.0.0.1:8124/compare  →  pick a held-out test clip; each member's card shows their model's verdict, probabilities and latency.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40</TotalTime>
  <Words>5138</Words>
  <Application>Microsoft Office PowerPoint</Application>
  <PresentationFormat>Widescreen</PresentationFormat>
  <Paragraphs>516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SafeScape — Review 2</dc:title>
  <dc:subject>PptxGenJS Presentation</dc:subject>
  <dc:creator>Amruth Rohan KR; Harish Venkat VS</dc:creator>
  <cp:lastModifiedBy>Harish Venkat V S-[CB.EN.U4ECE23219]</cp:lastModifiedBy>
  <cp:revision>10</cp:revision>
  <dcterms:created xsi:type="dcterms:W3CDTF">2026-08-20T08:53:47Z</dcterms:created>
  <dcterms:modified xsi:type="dcterms:W3CDTF">2026-10-01T03:40:57Z</dcterms:modified>
</cp:coreProperties>
</file>