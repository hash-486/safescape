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5" r:id="rId2"/>
    <p:sldMasterId id="2147483677" r:id="rId3"/>
    <p:sldMasterId id="2147483679" r:id="rId4"/>
    <p:sldMasterId id="2147483682" r:id="rId5"/>
  </p:sldMasterIdLst>
  <p:notesMasterIdLst>
    <p:notesMasterId r:id="rId27"/>
  </p:notesMasterIdLst>
  <p:sldIdLst>
    <p:sldId id="257" r:id="rId6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68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7219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3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68" name="Google Shape;768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9" name="Google Shape;769;p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0" name="Google Shape;770;p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1" name="Google Shape;771;p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372518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4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74" name="Google Shape;774;p4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5" name="Google Shape;775;p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6" name="Google Shape;776;p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7" name="Google Shape;777;p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7675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0" name="Google Shape;780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1" name="Google Shape;781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2" name="Google Shape;782;p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3" name="Google Shape;783;p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4" name="Google Shape;784;p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7284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6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7" name="Google Shape;787;p6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8" name="Google Shape;788;p6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9" name="Google Shape;789;p6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0" name="Google Shape;790;p6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1" name="Google Shape;791;p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2" name="Google Shape;792;p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3" name="Google Shape;793;p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75817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96" name="Google Shape;796;p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7" name="Google Shape;797;p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8" name="Google Shape;798;p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806498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1" name="Google Shape;801;p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2" name="Google Shape;802;p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401408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05" name="Google Shape;805;p9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6" name="Google Shape;806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7" name="Google Shape;807;p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8" name="Google Shape;808;p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9" name="Google Shape;809;p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62659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2" name="Google Shape;812;p10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813" name="Google Shape;813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4" name="Google Shape;814;p1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5" name="Google Shape;815;p1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6" name="Google Shape;816;p1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522331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9" name="Google Shape;819;p11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0" name="Google Shape;820;p1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1" name="Google Shape;821;p1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2" name="Google Shape;822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264369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25" name="Google Shape;825;p12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6" name="Google Shape;826;p1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7" name="Google Shape;827;p1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8" name="Google Shape;828;p1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711474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3"/>
          <p:cNvSpPr txBox="1">
            <a:spLocks noGrp="1"/>
          </p:cNvSpPr>
          <p:nvPr>
            <p:ph type="title"/>
          </p:nvPr>
        </p:nvSpPr>
        <p:spPr>
          <a:xfrm>
            <a:off x="838091" y="365084"/>
            <a:ext cx="105159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Poppins"/>
              <a:buNone/>
              <a:defRPr sz="3599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41008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437753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682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6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3" name="Google Shape;84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4" name="Google Shape;844;p1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5" name="Google Shape;845;p1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6" name="Google Shape;846;p1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271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9" name="Google Shape;849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50" name="Google Shape;850;p1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1" name="Google Shape;851;p1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2" name="Google Shape;852;p1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2530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18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55" name="Google Shape;855;p18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6" name="Google Shape;856;p1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7" name="Google Shape;857;p1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8" name="Google Shape;858;p1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4825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1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61" name="Google Shape;86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2" name="Google Shape;86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3" name="Google Shape;863;p1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4" name="Google Shape;864;p1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5" name="Google Shape;865;p1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81068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68" name="Google Shape;868;p2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9" name="Google Shape;869;p2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0" name="Google Shape;870;p20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1" name="Google Shape;871;p20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2" name="Google Shape;872;p2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3" name="Google Shape;873;p2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4" name="Google Shape;874;p2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3353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2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77" name="Google Shape;877;p2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8" name="Google Shape;878;p2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9" name="Google Shape;879;p2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87634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2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2" name="Google Shape;882;p2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3" name="Google Shape;883;p2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13940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86" name="Google Shape;886;p23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7" name="Google Shape;88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8" name="Google Shape;888;p2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9" name="Google Shape;889;p2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0" name="Google Shape;890;p2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804566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93" name="Google Shape;893;p24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894" name="Google Shape;89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5" name="Google Shape;895;p2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6" name="Google Shape;896;p2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7" name="Google Shape;897;p2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8649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2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0" name="Google Shape;900;p25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1" name="Google Shape;901;p2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2" name="Google Shape;902;p2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2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9851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26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6" name="Google Shape;906;p26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7" name="Google Shape;907;p2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8" name="Google Shape;908;p2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9" name="Google Shape;909;p2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1538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2937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Title Slide"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28"/>
          <p:cNvSpPr txBox="1">
            <a:spLocks noGrp="1"/>
          </p:cNvSpPr>
          <p:nvPr>
            <p:ph type="ctrTitle"/>
          </p:nvPr>
        </p:nvSpPr>
        <p:spPr>
          <a:xfrm>
            <a:off x="3482340" y="3911285"/>
            <a:ext cx="91440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aramond"/>
              <a:buNone/>
              <a:defRPr sz="6000">
                <a:solidFill>
                  <a:schemeClr val="lt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53147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13960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Title Slide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30"/>
          <p:cNvSpPr txBox="1">
            <a:spLocks noGrp="1"/>
          </p:cNvSpPr>
          <p:nvPr>
            <p:ph type="ctrTitle"/>
          </p:nvPr>
        </p:nvSpPr>
        <p:spPr>
          <a:xfrm>
            <a:off x="3482340" y="3911285"/>
            <a:ext cx="91440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aramond"/>
              <a:buNone/>
              <a:defRPr sz="6000">
                <a:solidFill>
                  <a:schemeClr val="lt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023903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 preserve="1">
  <p:cSld name="1_Title Slide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37" name="Google Shape;937;p3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38" name="Google Shape;938;p3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9" name="Google Shape;939;p3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0" name="Google Shape;940;p3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082584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3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52" name="Google Shape;952;p3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53" name="Google Shape;953;p3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4" name="Google Shape;954;p3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5" name="Google Shape;955;p3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055264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34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58" name="Google Shape;958;p3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59" name="Google Shape;959;p3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0" name="Google Shape;960;p3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1" name="Google Shape;961;p3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764857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5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64" name="Google Shape;964;p35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65" name="Google Shape;965;p3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6" name="Google Shape;966;p3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7" name="Google Shape;967;p3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587660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36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0" name="Google Shape;970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1" name="Google Shape;971;p3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2" name="Google Shape;972;p3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3" name="Google Shape;973;p3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3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019233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7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7" name="Google Shape;977;p37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8" name="Google Shape;978;p37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9" name="Google Shape;979;p37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0" name="Google Shape;980;p37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1" name="Google Shape;981;p3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2" name="Google Shape;982;p3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3" name="Google Shape;983;p3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622930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38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86" name="Google Shape;986;p3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7" name="Google Shape;987;p3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8" name="Google Shape;988;p3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9484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3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1" name="Google Shape;991;p3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2" name="Google Shape;992;p3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131561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p4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95" name="Google Shape;995;p40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96" name="Google Shape;996;p4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97" name="Google Shape;997;p4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8" name="Google Shape;998;p4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9" name="Google Shape;999;p4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266338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02" name="Google Shape;1002;p41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03" name="Google Shape;1003;p4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4" name="Google Shape;1004;p4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5" name="Google Shape;1005;p4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6" name="Google Shape;1006;p4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072440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42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09" name="Google Shape;1009;p42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0" name="Google Shape;1010;p4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1" name="Google Shape;1011;p4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2" name="Google Shape;1012;p4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37162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p43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15" name="Google Shape;1015;p43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6" name="Google Shape;1016;p4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7" name="Google Shape;1017;p4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8" name="Google Shape;1018;p4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412994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 preserve="1">
  <p:cSld name="Title and body"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4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21" name="Google Shape;1021;p4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Autofit/>
          </a:bodyPr>
          <a:lstStyle>
            <a:lvl1pPr marL="457200" lvl="0" indent="-337883" algn="l" rtl="0">
              <a:lnSpc>
                <a:spcPct val="90000"/>
              </a:lnSpc>
              <a:spcBef>
                <a:spcPts val="675"/>
              </a:spcBef>
              <a:spcAft>
                <a:spcPts val="0"/>
              </a:spcAft>
              <a:buClr>
                <a:schemeClr val="dk1"/>
              </a:buClr>
              <a:buSzPts val="1721"/>
              <a:buChar char="⚫"/>
              <a:defRPr/>
            </a:lvl1pPr>
            <a:lvl2pPr marL="914400" lvl="1" indent="-301942" algn="l" rtl="0">
              <a:lnSpc>
                <a:spcPct val="90000"/>
              </a:lnSpc>
              <a:spcBef>
                <a:spcPts val="551"/>
              </a:spcBef>
              <a:spcAft>
                <a:spcPts val="0"/>
              </a:spcAft>
              <a:buClr>
                <a:schemeClr val="dk1"/>
              </a:buClr>
              <a:buSzPts val="1155"/>
              <a:buChar char="⚪"/>
              <a:defRPr/>
            </a:lvl2pPr>
            <a:lvl3pPr marL="1371600" lvl="2" indent="-30003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25"/>
              <a:buChar char="⯍"/>
              <a:defRPr/>
            </a:lvl3pPr>
            <a:lvl4pPr marL="1828800" lvl="3" indent="-29527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Char char="?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22" name="Google Shape;1022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38241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3.xml"/><Relationship Id="rId4" Type="http://schemas.openxmlformats.org/officeDocument/2006/relationships/image" Target="../media/image2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theme" Target="../theme/theme4.xml"/><Relationship Id="rId4" Type="http://schemas.openxmlformats.org/officeDocument/2006/relationships/image" Target="../media/image2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1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54" name="Google Shape;754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5" name="Google Shape;755;p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6" name="Google Shape;756;p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7" name="Google Shape;757;p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758" name="Google Shape;758;p1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9" name="Google Shape;759;p1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667407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15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35" name="Google Shape;835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6" name="Google Shape;836;p1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7" name="Google Shape;837;p1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8" name="Google Shape;838;p1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839" name="Google Shape;839;p15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0" name="Google Shape;840;p15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286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96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2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12" name="Google Shape;912;p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3" name="Google Shape;913;p2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4" name="Google Shape;914;p2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5" name="Google Shape;915;p2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16" name="Google Shape;916;p27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17" name="Google Shape;917;p27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18" name="Google Shape;918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447437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9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23" name="Google Shape;923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4" name="Google Shape;924;p2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5" name="Google Shape;925;p2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6" name="Google Shape;926;p2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27" name="Google Shape;927;p29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8" name="Google Shape;928;p29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9" name="Google Shape;929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  <p:sp>
        <p:nvSpPr>
          <p:cNvPr id="930" name="Google Shape;930;p29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1" name="Google Shape;931;p29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32" name="Google Shape;932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0683342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2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32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44" name="Google Shape;944;p3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5" name="Google Shape;945;p3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6" name="Google Shape;946;p3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7" name="Google Shape;947;p3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48" name="Google Shape;948;p32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9" name="Google Shape;949;p32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156829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eg"/><Relationship Id="rId4" Type="http://schemas.openxmlformats.org/officeDocument/2006/relationships/image" Target="../media/image4.jpg"/><Relationship Id="rId5" Type="http://schemas.openxmlformats.org/officeDocument/2006/relationships/image" Target="../media/image5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2011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087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SafeScape — On-Device Acoustic Distress &amp; Hazard Recognition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No: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                                                                                         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Research-Product-Software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20116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Guide: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Bagyammal T, Professor, CSE Department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2395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874331"/>
              </p:ext>
            </p:extLst>
          </p:nvPr>
        </p:nvGraphicFramePr>
        <p:xfrm>
          <a:off x="640080" y="2743200"/>
          <a:ext cx="10908792" cy="2057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URL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Amruth Rohan KR</a:t>
                      </a:r>
                      <a:endParaRPr lang="en-US" sz="10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Cb.en.u4ece23222@cb.students.amrita.edu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Calibri" charset="0"/>
                          <a:ea typeface="Calibri" charset="0"/>
                          <a:cs typeface="Calibri" charset="0"/>
                        </a:rPr>
                        <a:t>9994454198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https://github.com/AmruthRohan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Harish Venkat VS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Cb.en.u4ece23219@cb.students.amrita.edu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Calibri" charset="0"/>
                          <a:ea typeface="Calibri" charset="0"/>
                          <a:cs typeface="Calibri" charset="0"/>
                        </a:rPr>
                        <a:t>8807792343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https://github.com/Hash-486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" y="49377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Product Demo: </a:t>
            </a:r>
            <a:r>
              <a:rPr lang="en-US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[URL]    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   GitHub Repository: </a:t>
            </a:r>
            <a:r>
              <a:rPr lang="en-US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https://github.com/Hash-486/SafeScape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63E79-8852-E211-BCE6-3E9C3F640AA7}"/>
              </a:ext>
            </a:extLst>
          </p:cNvPr>
          <p:cNvSpPr txBox="1"/>
          <p:nvPr/>
        </p:nvSpPr>
        <p:spPr>
          <a:xfrm>
            <a:off x="640080" y="5349240"/>
            <a:ext cx="994083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600" b="1" i="1" dirty="0">
                <a:solidFill>
                  <a:srgbClr val="FF0000"/>
                </a:solidFill>
                <a:latin typeface="Calibri" pitchFamily="34" charset="0"/>
                <a:cs typeface="Calibri" pitchFamily="34" charset="-120"/>
              </a:rPr>
              <a:t>23CSE473 — Neural Networks and Deep Learning</a:t>
            </a:r>
            <a:endParaRPr lang="en-US" sz="1600" dirty="0">
              <a:solidFill>
                <a:srgbClr val="FF0000"/>
              </a:solidFill>
            </a:endParaRPr>
          </a:p>
        </p:txBody>
      </p:sp>
      <p:pic>
        <p:nvPicPr>
          <p:cNvPr id="22" name="Picture 2" descr="Amrita Vishwa Vidyapeetham, Coimbatore: Courses, Fees ...">
            <a:extLst>
              <a:ext uri="{FF2B5EF4-FFF2-40B4-BE49-F238E27FC236}">
                <a16:creationId xmlns:a16="http://schemas.microsoft.com/office/drawing/2014/main" id="{8F23BC69-80AD-8BA8-BC5B-CEF206E32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825989" y="133557"/>
            <a:ext cx="965000" cy="943069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9873AC-6BCB-B3A4-F87D-E18C7C236C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8" r="1708" b="6000"/>
          <a:stretch>
            <a:fillRect/>
          </a:stretch>
        </p:blipFill>
        <p:spPr>
          <a:xfrm>
            <a:off x="3792345" y="4032504"/>
            <a:ext cx="553468" cy="713232"/>
          </a:xfrm>
          <a:prstGeom prst="rect">
            <a:avLst/>
          </a:prstGeom>
          <a:ln w="9525">
            <a:solidFill>
              <a:srgbClr val="D7DCEA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100445-D966-8C52-294E-E8217B7606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200" r="11200"/>
          <a:stretch>
            <a:fillRect/>
          </a:stretch>
        </p:blipFill>
        <p:spPr>
          <a:xfrm>
            <a:off x="3792345" y="3209544"/>
            <a:ext cx="553468" cy="713232"/>
          </a:xfrm>
          <a:prstGeom prst="rect">
            <a:avLst/>
          </a:prstGeom>
          <a:ln w="9525">
            <a:solidFill>
              <a:srgbClr val="D7DC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052560" y="384048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00000"/>
                </a:solidFill>
                <a:latin typeface="Cambria"/>
              </a:rPr>
              <a:t>Review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Review 2 — one model per member, with 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94560"/>
                <a:gridCol w="48463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is demonstrated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Amruth Rohan KR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MFCC-CNN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40 MFCCs × 101 frames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train/eval on the v2 dataset, per-class results, live classification of held-out clips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log-mel CRNN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64 log-mel × 101 frames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same, plus calibration and int8 quantization of the champion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Distilled Transformer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64 log-mel × 101 frames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distillation from the CRNN teacher, same evaluation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10896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COMMON GROUND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One dataset (v2), one source-file-disjoint split, one leak-free test set of 2,990 windows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Same metrics for every model: accuracy, macro-F1, distress-call recall, size, CPU latency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Each model is calibrated the same way, so they are compared at equivalent operating points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Dataset — sources and class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datasec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esc50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966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1126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freesound_cc0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ravdess_supplement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scream_kaggle_1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urbansound8k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945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775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515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1309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2919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033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WHERE EACH CLASS COMES FROM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ESC-50 — glass, horn, siren, clock alarm, ambient scenes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Kaggle scream set + RAVDESS angry/fearful speech → distress_call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UrbanSound8K — car_horn → horn_skid, siren → alarm, 7 urban classes as hard-negative ambience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DataSEC + Freesound CC0 → extra glass_break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70332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DESIGN DECISIONS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UrbanSound8K gun_shot excluded: a real hazard with no class here — labelling it ambience would teach the model gunfire is normal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16 kHz mono, denoised, 1 s windows with 50% overlap, near-silent windows dropped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2,919 recordings → 21,917 windows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Dataset — leakage-free split and duplicate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60350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1005840"/>
                <a:gridCol w="1280160"/>
                <a:gridCol w="109728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test (leak-free)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removed from test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3704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549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445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764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2852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611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7741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1585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1608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15506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3191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2990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914400"/>
            <a:ext cx="46634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SPLIT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70 / 15 / 15, stratified, at the source-file level — every window of a recording stays on one side.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AUDIT — FOUND DURING THIS REVIEW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Hashing every source file showed the Kaggle scream set ships the same recordings in two folders. 230 test windows (all distress_call) were byte-identical to training audio.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Fix without retraining: flag them (18_flag_duplicate_sources.py) and report every number on the remaining 2,990 windows.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Impact was small (CRNN 89.8% → 89.7%), but every headline number is now on audio no model has heard.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Feature pipeline — shared by all three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539496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resample + mono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16 kHz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speech/hazard energy is below 8 kHz; smaller input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denoise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non-stationary spectral gating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suppress steady background before features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1.0 s, 50% hop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short enough for near-real-time, long enough for a scream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energy gate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RMS ≥ 1e-4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never train or predict on silence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STFT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512-pt FFT, 10 ms hop → 101 frames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10 ms resolution keeps glass transients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MFCC (CNN)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40 coefficients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compact cepstral summary of the spectrum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log-mel (CRNN, Transformer)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64 mel bands, dB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keeps spectral detail the DCT discards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normalise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per window, zero mean / unit var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loudness-invariant input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augment (train only)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SpecAugment masks + feature noise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regularise the rare classes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MFCC-CNN — Amruth Rohan KR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mfcc_c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278" y="868680"/>
            <a:ext cx="9702963" cy="233171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29000"/>
          <a:ext cx="4206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hyper-parameter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learning rate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1.25e-3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batch / dropout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64 / 0.25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selection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Optuna, val macro recall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25, early stop at 17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0" y="3429000"/>
          <a:ext cx="40233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68680"/>
                <a:gridCol w="868680"/>
                <a:gridCol w="822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0.43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281160" y="33832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LEAK-FREE TEST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accuracy 79.2%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macro-F1 0.725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distress recall 80.3%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60,901 params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249 KB · 0.52 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log-mel CRNN — Harish Venkat VS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cr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453" y="868680"/>
            <a:ext cx="7712612" cy="23317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29000"/>
          <a:ext cx="4206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hyper-parameter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learning rate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8.56e-4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batch / dropout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16 / 0.27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GRU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128 units × 2 directions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compression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dynamic int8 → 516 KB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0" y="3429000"/>
          <a:ext cx="40233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68680"/>
                <a:gridCol w="868680"/>
                <a:gridCol w="822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281160" y="33832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LEAK-FREE TEST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accuracy 89.7%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macro-F1 0.853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distress recall 86.5%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499,237 params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516 KB · 6.90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Distilled Transformer — Harish Venkat VS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transform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329" y="868680"/>
            <a:ext cx="6676861" cy="23317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29000"/>
          <a:ext cx="4206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hyper-parameter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teacher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v2 CRNN (frozen)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α / 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0.5 / 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learning rate / batch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1e-3 / 32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25, early stop at 20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0" y="3429000"/>
          <a:ext cx="40233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68680"/>
                <a:gridCol w="868680"/>
                <a:gridCol w="822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0.39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281160" y="33832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LEAK-FREE TEST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accuracy 83.8%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macro-F1 0.774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distress recall 82.5%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84,293 params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340 KB · 0.48 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Training — validation macro recall per epoch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training_curve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914400"/>
            <a:ext cx="7132320" cy="3668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00584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HOW EACH MODEL WAS SELECTED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Checkpoint = best validation macro recall, not lowest loss — recall on rare hazards is what matters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Early stopping after 6 epochs without improvement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Class-weighted cross-entropy (1 / class frequency) for all three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Then a per-class logit bias fitted on validation, with every hazard's recall floored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Results — confusion matrices per 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mfcc_cnn_v2_leakfree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04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MFCC-CNN · Amruth Rohan KR</a:t>
            </a:r>
          </a:p>
        </p:txBody>
      </p:sp>
      <p:pic>
        <p:nvPicPr>
          <p:cNvPr id="6" name="Picture 5" descr="logmel_crnn_v2_leakfree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914400"/>
            <a:ext cx="3657600" cy="304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log-mel CRNN · Harish Venkat VS</a:t>
            </a:r>
          </a:p>
        </p:txBody>
      </p:sp>
      <p:pic>
        <p:nvPicPr>
          <p:cNvPr id="8" name="Picture 7" descr="transformer_v2_leakfree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914400"/>
            <a:ext cx="36576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Distilled Transformer · Harish Venkat 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Rows are the true class. The dominant error for every model is ambience predicted as a hazard — the price of class-weighted training and recall-floored calibration, which deliberately prefer a false alarm to a missed scream.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Three-model comparison — leak-free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097280"/>
                <a:gridCol w="1097280"/>
                <a:gridCol w="1371600"/>
                <a:gridCol w="1188720"/>
                <a:gridCol w="128016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distress 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served size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CPU / window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MFCC-CNN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Amruth Rohan KR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79.2%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0.725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80.3%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60,901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249 KB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0.52 ms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log-mel CRNN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0.853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86.5%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499,237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516 KB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6.90 ms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Distilled Transformer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83.8%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0.774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84,293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340 KB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0.48 ms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architec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6040"/>
            <a:ext cx="6583680" cy="2308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260604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READING THE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CRNN leads every quality metric: macro-F1 0.853 vs 0.774 / 0.725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Transformer: 17% of the CRNN's parameters, 14× faster per window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MFCC-CNN: smallest and fastest, weakest on glass_break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All three are far inside the 1 s real-time budget, so hazard recall decides: the quantized CRNN ships as the 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EACH MEMBER RUNS THEIR OWN MODEL ON THE HELD-OUT TEST SET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cd scripts;  $env:SAFESCAPE_PROC_DIR = "data/processed_v2"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python 10_evaluate.py --arch mfcc_cnn --ckpt ../models/checkpoints/mfcc_cnn_v2.pt --calibration ../models/exported/mfcc_cnn/calibration.json --manifest ../data/processed_v2/windows_manifest_dedup.csv --cpu-only        (Amruth)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python 10_evaluate.py --arch logmel_crnn --hidden-size 128 --ckpt ../models/checkpoints/logmel_crnn_v2.pt --calibration ../models/exported/logmel_crnn/calibration.json --manifest ../data/processed_v2/windows_manifest_dedup.csv --cpu-only        (Harish)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python 10_evaluate.py --arch transformer --ckpt ../models/checkpoints/transformer_v2.pt --calibration ../models/exported/transformer/calibration.json --manifest ../data/processed_v2/windows_manifest_dedup.csv --cpu-only        (Harish)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THEN THE SAME MODEL ON A SINGLE CLIP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python run_demo.py  →  http://127.0.0.1:8124/compare  →  pick a held-out test clip; each member's card shows their model's verdict, probabilities and latency.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D2EC4925-13C0-4F9C-9EC6-BA379B2903BA}" vid="{D05CAAF7-8C12-42B7-AE16-5E8F348BAE34}"/>
    </a:ext>
  </a:extLst>
</a:theme>
</file>

<file path=ppt/theme/theme2.xml><?xml version="1.0" encoding="utf-8"?>
<a:theme xmlns:a="http://schemas.openxmlformats.org/drawingml/2006/main" name="Presentation slides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Presentation Cover pag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Presentation Cover pag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_Presentation slides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40</TotalTime>
  <Words>5138</Words>
  <Application>Microsoft Office PowerPoint</Application>
  <PresentationFormat>Widescreen</PresentationFormat>
  <Paragraphs>516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Arial</vt:lpstr>
      <vt:lpstr>Avenir</vt:lpstr>
      <vt:lpstr>Calibri</vt:lpstr>
      <vt:lpstr>Cambria</vt:lpstr>
      <vt:lpstr>Garamond</vt:lpstr>
      <vt:lpstr>Poppins</vt:lpstr>
      <vt:lpstr>Theme1</vt:lpstr>
      <vt:lpstr>Presentation slides</vt:lpstr>
      <vt:lpstr>Presentation Cover page</vt:lpstr>
      <vt:lpstr>1_Presentation Cover page</vt:lpstr>
      <vt:lpstr>1_Presentation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SafeScape — Review 2</dc:title>
  <dc:subject>PptxGenJS Presentation</dc:subject>
  <dc:creator>Amruth Rohan KR; Harish Venkat VS</dc:creator>
  <cp:lastModifiedBy>Harish Venkat V S-[CB.EN.U4ECE23219]</cp:lastModifiedBy>
  <cp:revision>10</cp:revision>
  <dcterms:created xsi:type="dcterms:W3CDTF">2026-08-20T08:53:47Z</dcterms:created>
  <dcterms:modified xsi:type="dcterms:W3CDTF">2026-10-01T03:40:57Z</dcterms:modified>
</cp:coreProperties>
</file>