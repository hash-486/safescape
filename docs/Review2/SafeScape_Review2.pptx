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  <p:sldMasterId id="2147483665" r:id="rId2"/>
    <p:sldMasterId id="2147483677" r:id="rId3"/>
    <p:sldMasterId id="2147483679" r:id="rId4"/>
    <p:sldMasterId id="2147483682" r:id="rId5"/>
  </p:sldMasterIdLst>
  <p:notesMasterIdLst>
    <p:notesMasterId r:id="rId27"/>
  </p:notesMasterIdLst>
  <p:sldIdLst>
    <p:sldId id="257" r:id="rId6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68" y="1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7219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3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68" name="Google Shape;768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69" name="Google Shape;769;p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0" name="Google Shape;770;p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1" name="Google Shape;771;p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372518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4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74" name="Google Shape;774;p4"/>
          <p:cNvSpPr txBox="1"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75" name="Google Shape;775;p4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6" name="Google Shape;776;p4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7" name="Google Shape;777;p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9767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5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80" name="Google Shape;780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1" name="Google Shape;781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2" name="Google Shape;782;p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3" name="Google Shape;783;p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4" name="Google Shape;784;p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728483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6"/>
          <p:cNvSpPr txBox="1">
            <a:spLocks noGrp="1"/>
          </p:cNvSpPr>
          <p:nvPr>
            <p:ph type="title"/>
          </p:nvPr>
        </p:nvSpPr>
        <p:spPr>
          <a:xfrm>
            <a:off x="839788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87" name="Google Shape;787;p6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8" name="Google Shape;788;p6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9" name="Google Shape;789;p6"/>
          <p:cNvSpPr txBox="1">
            <a:spLocks noGrp="1"/>
          </p:cNvSpPr>
          <p:nvPr>
            <p:ph type="body" idx="3"/>
          </p:nvPr>
        </p:nvSpPr>
        <p:spPr>
          <a:xfrm>
            <a:off x="6172201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0" name="Google Shape;790;p6"/>
          <p:cNvSpPr txBox="1">
            <a:spLocks noGrp="1"/>
          </p:cNvSpPr>
          <p:nvPr>
            <p:ph type="body" idx="4"/>
          </p:nvPr>
        </p:nvSpPr>
        <p:spPr>
          <a:xfrm>
            <a:off x="6172201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1" name="Google Shape;791;p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2" name="Google Shape;792;p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3" name="Google Shape;793;p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975817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7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96" name="Google Shape;796;p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7" name="Google Shape;797;p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8" name="Google Shape;798;p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7806498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8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1" name="Google Shape;801;p8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2" name="Google Shape;802;p8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401408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05" name="Google Shape;805;p9"/>
          <p:cNvSpPr txBox="1">
            <a:spLocks noGrp="1"/>
          </p:cNvSpPr>
          <p:nvPr>
            <p:ph type="body" idx="1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6" name="Google Shape;806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7" name="Google Shape;807;p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8" name="Google Shape;808;p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9" name="Google Shape;809;p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362659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12" name="Google Shape;812;p10"/>
          <p:cNvSpPr>
            <a:spLocks noGrp="1"/>
          </p:cNvSpPr>
          <p:nvPr>
            <p:ph type="pic" idx="2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813" name="Google Shape;813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4" name="Google Shape;814;p10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5" name="Google Shape;815;p1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6" name="Google Shape;816;p1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522331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11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19" name="Google Shape;819;p11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0" name="Google Shape;820;p1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1" name="Google Shape;821;p1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2" name="Google Shape;822;p1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264369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12"/>
          <p:cNvSpPr txBox="1">
            <a:spLocks noGrp="1"/>
          </p:cNvSpPr>
          <p:nvPr>
            <p:ph type="title"/>
          </p:nvPr>
        </p:nvSpPr>
        <p:spPr>
          <a:xfrm rot="5400000">
            <a:off x="7133401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25" name="Google Shape;825;p12"/>
          <p:cNvSpPr txBox="1">
            <a:spLocks noGrp="1"/>
          </p:cNvSpPr>
          <p:nvPr>
            <p:ph type="body" idx="1"/>
          </p:nvPr>
        </p:nvSpPr>
        <p:spPr>
          <a:xfrm rot="5400000">
            <a:off x="1799401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6" name="Google Shape;826;p1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7" name="Google Shape;827;p1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8" name="Google Shape;828;p1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711474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13"/>
          <p:cNvSpPr txBox="1">
            <a:spLocks noGrp="1"/>
          </p:cNvSpPr>
          <p:nvPr>
            <p:ph type="title"/>
          </p:nvPr>
        </p:nvSpPr>
        <p:spPr>
          <a:xfrm>
            <a:off x="838091" y="365084"/>
            <a:ext cx="10515900" cy="8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99"/>
              <a:buFont typeface="Poppins"/>
              <a:buNone/>
              <a:defRPr sz="3599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41008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437753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6682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 preserve="1">
  <p:cSld name="Title and Content">
    <p:spTree>
      <p:nvGrpSpPr>
        <p:cNvPr id="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16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43" name="Google Shape;843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44" name="Google Shape;844;p1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5" name="Google Shape;845;p1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6" name="Google Shape;846;p1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27144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Title Slide"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1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49" name="Google Shape;849;p1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50" name="Google Shape;850;p1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1" name="Google Shape;851;p1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2" name="Google Shape;852;p1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2530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Section Header"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18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55" name="Google Shape;855;p18"/>
          <p:cNvSpPr txBox="1"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56" name="Google Shape;856;p18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7" name="Google Shape;857;p18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8" name="Google Shape;858;p18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048251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 preserve="1">
  <p:cSld name="Two Content">
    <p:spTree>
      <p:nvGrpSpPr>
        <p:cNvPr id="1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19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61" name="Google Shape;861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2" name="Google Shape;862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3" name="Google Shape;863;p1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4" name="Google Shape;864;p1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5" name="Google Shape;865;p1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981068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 preserve="1">
  <p:cSld name="Comparison"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20"/>
          <p:cNvSpPr txBox="1">
            <a:spLocks noGrp="1"/>
          </p:cNvSpPr>
          <p:nvPr>
            <p:ph type="title"/>
          </p:nvPr>
        </p:nvSpPr>
        <p:spPr>
          <a:xfrm>
            <a:off x="839788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68" name="Google Shape;868;p20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9" name="Google Shape;869;p20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0" name="Google Shape;870;p20"/>
          <p:cNvSpPr txBox="1">
            <a:spLocks noGrp="1"/>
          </p:cNvSpPr>
          <p:nvPr>
            <p:ph type="body" idx="3"/>
          </p:nvPr>
        </p:nvSpPr>
        <p:spPr>
          <a:xfrm>
            <a:off x="6172201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1" name="Google Shape;871;p20"/>
          <p:cNvSpPr txBox="1">
            <a:spLocks noGrp="1"/>
          </p:cNvSpPr>
          <p:nvPr>
            <p:ph type="body" idx="4"/>
          </p:nvPr>
        </p:nvSpPr>
        <p:spPr>
          <a:xfrm>
            <a:off x="6172201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2" name="Google Shape;872;p20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3" name="Google Shape;873;p2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4" name="Google Shape;874;p2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43353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Title Only">
    <p:spTree>
      <p:nvGrpSpPr>
        <p:cNvPr id="1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21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77" name="Google Shape;877;p2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8" name="Google Shape;878;p2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9" name="Google Shape;879;p2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587634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Blank"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2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2" name="Google Shape;882;p2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3" name="Google Shape;883;p2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413940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 preserve="1">
  <p:cSld name="Content with Caption"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6" name="Google Shape;886;p23"/>
          <p:cNvSpPr txBox="1">
            <a:spLocks noGrp="1"/>
          </p:cNvSpPr>
          <p:nvPr>
            <p:ph type="body" idx="1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7" name="Google Shape;887;p2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8" name="Google Shape;888;p2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9" name="Google Shape;889;p2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0" name="Google Shape;890;p2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80456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 preserve="1">
  <p:cSld name="Picture with Caption"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93" name="Google Shape;893;p24"/>
          <p:cNvSpPr>
            <a:spLocks noGrp="1"/>
          </p:cNvSpPr>
          <p:nvPr>
            <p:ph type="pic" idx="2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894" name="Google Shape;894;p2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5" name="Google Shape;895;p24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6" name="Google Shape;896;p24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7" name="Google Shape;897;p2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618649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 preserve="1">
  <p:cSld name="Title and Vertical Text">
    <p:spTree>
      <p:nvGrpSpPr>
        <p:cNvPr id="1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25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00" name="Google Shape;900;p25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1" name="Google Shape;901;p2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2" name="Google Shape;902;p2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3" name="Google Shape;903;p2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698515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 preserve="1">
  <p:cSld name="Vertical Title and Text">
    <p:spTree>
      <p:nvGrpSpPr>
        <p:cNvPr id="1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26"/>
          <p:cNvSpPr txBox="1">
            <a:spLocks noGrp="1"/>
          </p:cNvSpPr>
          <p:nvPr>
            <p:ph type="title"/>
          </p:nvPr>
        </p:nvSpPr>
        <p:spPr>
          <a:xfrm rot="5400000">
            <a:off x="7133401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06" name="Google Shape;906;p26"/>
          <p:cNvSpPr txBox="1">
            <a:spLocks noGrp="1"/>
          </p:cNvSpPr>
          <p:nvPr>
            <p:ph type="body" idx="1"/>
          </p:nvPr>
        </p:nvSpPr>
        <p:spPr>
          <a:xfrm rot="5400000">
            <a:off x="1799401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7" name="Google Shape;907;p2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8" name="Google Shape;908;p2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9" name="Google Shape;909;p2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815380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29374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>
  <p:cSld name="Title Slide"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28"/>
          <p:cNvSpPr txBox="1">
            <a:spLocks noGrp="1"/>
          </p:cNvSpPr>
          <p:nvPr>
            <p:ph type="ctrTitle"/>
          </p:nvPr>
        </p:nvSpPr>
        <p:spPr>
          <a:xfrm>
            <a:off x="3482340" y="3911285"/>
            <a:ext cx="9144000" cy="12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aramond"/>
              <a:buNone/>
              <a:defRPr sz="60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153147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13960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>
  <p:cSld name="Title Slide"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30"/>
          <p:cNvSpPr txBox="1">
            <a:spLocks noGrp="1"/>
          </p:cNvSpPr>
          <p:nvPr>
            <p:ph type="ctrTitle"/>
          </p:nvPr>
        </p:nvSpPr>
        <p:spPr>
          <a:xfrm>
            <a:off x="3482340" y="3911285"/>
            <a:ext cx="9144000" cy="12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aramond"/>
              <a:buNone/>
              <a:defRPr sz="60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0239030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 preserve="1">
  <p:cSld name="1_Title Slide"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3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37" name="Google Shape;937;p3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38" name="Google Shape;938;p3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9" name="Google Shape;939;p3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0" name="Google Shape;940;p3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082584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Title Slide">
    <p:spTree>
      <p:nvGrpSpPr>
        <p:cNvPr id="1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3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52" name="Google Shape;952;p3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53" name="Google Shape;953;p3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4" name="Google Shape;954;p3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5" name="Google Shape;955;p3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055264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 preserve="1">
  <p:cSld name="Title and Content">
    <p:spTree>
      <p:nvGrpSpPr>
        <p:cNvPr id="1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34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58" name="Google Shape;958;p3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59" name="Google Shape;959;p34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0" name="Google Shape;960;p34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1" name="Google Shape;961;p3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764857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Section Header"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35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64" name="Google Shape;964;p35"/>
          <p:cNvSpPr txBox="1"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65" name="Google Shape;965;p3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6" name="Google Shape;966;p3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7" name="Google Shape;967;p3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6587660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 preserve="1">
  <p:cSld name="Two Content"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36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70" name="Google Shape;970;p3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71" name="Google Shape;971;p3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72" name="Google Shape;972;p3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3" name="Google Shape;973;p3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4" name="Google Shape;974;p3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019233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 preserve="1">
  <p:cSld name="Comparison">
    <p:spTree>
      <p:nvGrpSpPr>
        <p:cNvPr id="1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37"/>
          <p:cNvSpPr txBox="1">
            <a:spLocks noGrp="1"/>
          </p:cNvSpPr>
          <p:nvPr>
            <p:ph type="title"/>
          </p:nvPr>
        </p:nvSpPr>
        <p:spPr>
          <a:xfrm>
            <a:off x="839788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77" name="Google Shape;977;p37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78" name="Google Shape;978;p37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79" name="Google Shape;979;p37"/>
          <p:cNvSpPr txBox="1">
            <a:spLocks noGrp="1"/>
          </p:cNvSpPr>
          <p:nvPr>
            <p:ph type="body" idx="3"/>
          </p:nvPr>
        </p:nvSpPr>
        <p:spPr>
          <a:xfrm>
            <a:off x="6172201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80" name="Google Shape;980;p37"/>
          <p:cNvSpPr txBox="1">
            <a:spLocks noGrp="1"/>
          </p:cNvSpPr>
          <p:nvPr>
            <p:ph type="body" idx="4"/>
          </p:nvPr>
        </p:nvSpPr>
        <p:spPr>
          <a:xfrm>
            <a:off x="6172201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81" name="Google Shape;981;p3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2" name="Google Shape;982;p3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3" name="Google Shape;983;p3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6229305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Title Only">
    <p:spTree>
      <p:nvGrpSpPr>
        <p:cNvPr id="1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38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86" name="Google Shape;986;p38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7" name="Google Shape;987;p38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8" name="Google Shape;988;p38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948481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Blank">
    <p:spTree>
      <p:nvGrpSpPr>
        <p:cNvPr id="1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3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1" name="Google Shape;991;p3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2" name="Google Shape;992;p3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315616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 preserve="1">
  <p:cSld name="Content with Caption">
    <p:spTree>
      <p:nvGrpSpPr>
        <p:cNvPr id="1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4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5" name="Google Shape;995;p40"/>
          <p:cNvSpPr txBox="1">
            <a:spLocks noGrp="1"/>
          </p:cNvSpPr>
          <p:nvPr>
            <p:ph type="body" idx="1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96" name="Google Shape;996;p4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97" name="Google Shape;997;p40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8" name="Google Shape;998;p4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9" name="Google Shape;999;p4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9266338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 preserve="1">
  <p:cSld name="Picture with Caption"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4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02" name="Google Shape;1002;p41"/>
          <p:cNvSpPr>
            <a:spLocks noGrp="1"/>
          </p:cNvSpPr>
          <p:nvPr>
            <p:ph type="pic" idx="2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03" name="Google Shape;1003;p4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4" name="Google Shape;1004;p4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5" name="Google Shape;1005;p4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6" name="Google Shape;1006;p4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7072440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 preserve="1">
  <p:cSld name="Title and Vertical Text"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42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09" name="Google Shape;1009;p42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0" name="Google Shape;1010;p4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1" name="Google Shape;1011;p4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2" name="Google Shape;1012;p4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5371624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 preserve="1">
  <p:cSld name="Vertical Title and Text">
    <p:spTree>
      <p:nvGrpSpPr>
        <p:cNvPr id="1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43"/>
          <p:cNvSpPr txBox="1">
            <a:spLocks noGrp="1"/>
          </p:cNvSpPr>
          <p:nvPr>
            <p:ph type="title"/>
          </p:nvPr>
        </p:nvSpPr>
        <p:spPr>
          <a:xfrm rot="5400000">
            <a:off x="7133401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15" name="Google Shape;1015;p43"/>
          <p:cNvSpPr txBox="1">
            <a:spLocks noGrp="1"/>
          </p:cNvSpPr>
          <p:nvPr>
            <p:ph type="body" idx="1"/>
          </p:nvPr>
        </p:nvSpPr>
        <p:spPr>
          <a:xfrm rot="5400000">
            <a:off x="1799401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6" name="Google Shape;1016;p4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7" name="Google Shape;1017;p4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8" name="Google Shape;1018;p4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0412994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 preserve="1">
  <p:cSld name="Title and body">
    <p:spTree>
      <p:nvGrpSpPr>
        <p:cNvPr id="1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4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21" name="Google Shape;1021;p4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337883" algn="l" rtl="0">
              <a:lnSpc>
                <a:spcPct val="90000"/>
              </a:lnSpc>
              <a:spcBef>
                <a:spcPts val="675"/>
              </a:spcBef>
              <a:spcAft>
                <a:spcPts val="0"/>
              </a:spcAft>
              <a:buClr>
                <a:schemeClr val="dk1"/>
              </a:buClr>
              <a:buSzPts val="1721"/>
              <a:buChar char="⚫"/>
              <a:defRPr/>
            </a:lvl1pPr>
            <a:lvl2pPr marL="914400" lvl="1" indent="-301942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55"/>
              <a:buChar char="⚪"/>
              <a:defRPr/>
            </a:lvl2pPr>
            <a:lvl3pPr marL="1371600" lvl="2" indent="-30003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25"/>
              <a:buChar char="⯍"/>
              <a:defRPr/>
            </a:lvl3pPr>
            <a:lvl4pPr marL="1828800" lvl="3" indent="-2952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Char char="?"/>
              <a:defRPr/>
            </a:lvl4pPr>
            <a:lvl5pPr marL="2286000" lvl="4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5pPr>
            <a:lvl6pPr marL="2743200" lvl="5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marL="3200400" lvl="6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marL="3657600" lvl="7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marL="4114800" lvl="8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22" name="Google Shape;1022;p4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382412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5.xml"/><Relationship Id="rId13" Type="http://schemas.openxmlformats.org/officeDocument/2006/relationships/theme" Target="../theme/theme2.xml"/><Relationship Id="rId14" Type="http://schemas.openxmlformats.org/officeDocument/2006/relationships/image" Target="../media/image1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7.xml"/><Relationship Id="rId3" Type="http://schemas.openxmlformats.org/officeDocument/2006/relationships/theme" Target="../theme/theme3.xml"/><Relationship Id="rId4" Type="http://schemas.openxmlformats.org/officeDocument/2006/relationships/image" Target="../media/image2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9.xml"/><Relationship Id="rId3" Type="http://schemas.openxmlformats.org/officeDocument/2006/relationships/theme" Target="../theme/theme4.xml"/><Relationship Id="rId4" Type="http://schemas.openxmlformats.org/officeDocument/2006/relationships/image" Target="../media/image2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slideLayout" Target="../slideLayouts/slideLayout32.xml"/><Relationship Id="rId4" Type="http://schemas.openxmlformats.org/officeDocument/2006/relationships/slideLayout" Target="../slideLayouts/slideLayout33.xml"/><Relationship Id="rId5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6.xml"/><Relationship Id="rId8" Type="http://schemas.openxmlformats.org/officeDocument/2006/relationships/slideLayout" Target="../slideLayouts/slideLayout37.xml"/><Relationship Id="rId9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1.xml"/><Relationship Id="rId13" Type="http://schemas.openxmlformats.org/officeDocument/2006/relationships/theme" Target="../theme/theme5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1"/>
          <p:cNvSpPr/>
          <p:nvPr/>
        </p:nvSpPr>
        <p:spPr>
          <a:xfrm>
            <a:off x="0" y="6096000"/>
            <a:ext cx="12192000" cy="771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1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54" name="Google Shape;754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5" name="Google Shape;755;p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6" name="Google Shape;756;p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7" name="Google Shape;757;p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758" name="Google Shape;758;p1"/>
          <p:cNvSpPr/>
          <p:nvPr/>
        </p:nvSpPr>
        <p:spPr>
          <a:xfrm>
            <a:off x="0" y="6140361"/>
            <a:ext cx="12192000" cy="7050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9" name="Google Shape;759;p1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9890762" y="6165912"/>
            <a:ext cx="1935479" cy="6180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7667407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15"/>
          <p:cNvSpPr/>
          <p:nvPr/>
        </p:nvSpPr>
        <p:spPr>
          <a:xfrm>
            <a:off x="0" y="6096000"/>
            <a:ext cx="12192000" cy="771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15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35" name="Google Shape;835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6" name="Google Shape;836;p1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7" name="Google Shape;837;p1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8" name="Google Shape;838;p1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839" name="Google Shape;839;p15"/>
          <p:cNvSpPr/>
          <p:nvPr/>
        </p:nvSpPr>
        <p:spPr>
          <a:xfrm>
            <a:off x="0" y="6140361"/>
            <a:ext cx="12192000" cy="7050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0" name="Google Shape;840;p15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890762" y="6165912"/>
            <a:ext cx="1935479" cy="6180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42860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96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27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12" name="Google Shape;912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3" name="Google Shape;913;p2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4" name="Google Shape;914;p2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5" name="Google Shape;915;p2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916" name="Google Shape;916;p27"/>
          <p:cNvSpPr/>
          <p:nvPr/>
        </p:nvSpPr>
        <p:spPr>
          <a:xfrm>
            <a:off x="0" y="-335280"/>
            <a:ext cx="12192000" cy="71934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7" name="Google Shape;917;p27"/>
          <p:cNvCxnSpPr/>
          <p:nvPr/>
        </p:nvCxnSpPr>
        <p:spPr>
          <a:xfrm>
            <a:off x="3345180" y="2707281"/>
            <a:ext cx="0" cy="2283900"/>
          </a:xfrm>
          <a:prstGeom prst="straightConnector1">
            <a:avLst/>
          </a:prstGeom>
          <a:noFill/>
          <a:ln w="349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18" name="Google Shape;918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51862" y="2544174"/>
            <a:ext cx="4801940" cy="15334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4474374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8" r:id="rId1"/>
    <p:sldLayoutId id="2147483695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29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23" name="Google Shape;923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24" name="Google Shape;924;p2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25" name="Google Shape;925;p2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26" name="Google Shape;926;p2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927" name="Google Shape;927;p29"/>
          <p:cNvSpPr/>
          <p:nvPr/>
        </p:nvSpPr>
        <p:spPr>
          <a:xfrm>
            <a:off x="0" y="-335280"/>
            <a:ext cx="12192000" cy="71934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8" name="Google Shape;928;p29"/>
          <p:cNvCxnSpPr/>
          <p:nvPr/>
        </p:nvCxnSpPr>
        <p:spPr>
          <a:xfrm>
            <a:off x="3345180" y="2707281"/>
            <a:ext cx="0" cy="2283900"/>
          </a:xfrm>
          <a:prstGeom prst="straightConnector1">
            <a:avLst/>
          </a:prstGeom>
          <a:noFill/>
          <a:ln w="349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29" name="Google Shape;929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51862" y="2544174"/>
            <a:ext cx="4801940" cy="1533432"/>
          </a:xfrm>
          <a:prstGeom prst="rect">
            <a:avLst/>
          </a:prstGeom>
          <a:noFill/>
          <a:ln>
            <a:noFill/>
          </a:ln>
        </p:spPr>
      </p:pic>
      <p:sp>
        <p:nvSpPr>
          <p:cNvPr id="930" name="Google Shape;930;p29"/>
          <p:cNvSpPr/>
          <p:nvPr/>
        </p:nvSpPr>
        <p:spPr>
          <a:xfrm>
            <a:off x="0" y="-335280"/>
            <a:ext cx="12192000" cy="71934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1" name="Google Shape;931;p29"/>
          <p:cNvCxnSpPr/>
          <p:nvPr/>
        </p:nvCxnSpPr>
        <p:spPr>
          <a:xfrm>
            <a:off x="3345180" y="2707281"/>
            <a:ext cx="0" cy="2283900"/>
          </a:xfrm>
          <a:prstGeom prst="straightConnector1">
            <a:avLst/>
          </a:prstGeom>
          <a:noFill/>
          <a:ln w="349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32" name="Google Shape;932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51862" y="2544174"/>
            <a:ext cx="4801940" cy="15334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0683342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0" r:id="rId1"/>
    <p:sldLayoutId id="2147483681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32"/>
          <p:cNvSpPr/>
          <p:nvPr/>
        </p:nvSpPr>
        <p:spPr>
          <a:xfrm>
            <a:off x="0" y="6096000"/>
            <a:ext cx="12192000" cy="771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32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44" name="Google Shape;944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5" name="Google Shape;945;p3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6" name="Google Shape;946;p3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7" name="Google Shape;947;p3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948" name="Google Shape;948;p32"/>
          <p:cNvSpPr/>
          <p:nvPr/>
        </p:nvSpPr>
        <p:spPr>
          <a:xfrm>
            <a:off x="0" y="6140361"/>
            <a:ext cx="12192000" cy="7050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9" name="Google Shape;949;p32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890762" y="6165912"/>
            <a:ext cx="1935479" cy="6180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2156829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eg"/><Relationship Id="rId4" Type="http://schemas.openxmlformats.org/officeDocument/2006/relationships/image" Target="../media/image4.jpg"/><Relationship Id="rId5" Type="http://schemas.openxmlformats.org/officeDocument/2006/relationships/image" Target="../media/image5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2011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170432"/>
            <a:ext cx="10908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SafeScape — On-Device Acoustic Distress &amp; Hazard Recognition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No: </a:t>
            </a:r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                                                                                         </a:t>
            </a:r>
            <a:r>
              <a:rPr lang="en-US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</a:t>
            </a:r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Research-Product-Software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201168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Guide: </a:t>
            </a:r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Bagyammal T, Professor, CSE Department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" y="23957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600" dirty="0">
              <a:solidFill>
                <a:srgbClr val="FF0000"/>
              </a:solidFill>
            </a:endParaRPr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0874331"/>
              </p:ext>
            </p:extLst>
          </p:nvPr>
        </p:nvGraphicFramePr>
        <p:xfrm>
          <a:off x="640080" y="2743200"/>
          <a:ext cx="10908792" cy="2057400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791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 No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ID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No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URL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Cb.en.u4ece23222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Amruth Rohan KR</a:t>
                      </a:r>
                      <a:endParaRPr lang="en-US" sz="1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Cb.en.u4ece23222@cb.students.amrita.edu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9994454198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https://github.com/AmruthRohan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Cb.en.u4ece23219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Harish Venkat VS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Cb.en.u4ece23219@cb.students.amrita.edu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8807792343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https://github.com/Hash-486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640080" y="493776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Product Demo: </a:t>
            </a:r>
            <a:r>
              <a:rPr lang="en-US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[URL]    </a:t>
            </a:r>
            <a:r>
              <a:rPr lang="en-US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		   GitHub Repository: </a:t>
            </a:r>
            <a:r>
              <a:rPr lang="en-US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https://github.com/Hash-486/SafeScape</a:t>
            </a:r>
            <a:r>
              <a:rPr lang="en-US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7" name="Text 1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18" name="Text 15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2363E79-8852-E211-BCE6-3E9C3F640AA7}"/>
              </a:ext>
            </a:extLst>
          </p:cNvPr>
          <p:cNvSpPr txBox="1"/>
          <p:nvPr/>
        </p:nvSpPr>
        <p:spPr>
          <a:xfrm>
            <a:off x="640080" y="5349240"/>
            <a:ext cx="99408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b="1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</a:t>
            </a:r>
            <a:r>
              <a:rPr lang="en-US" sz="1600" b="1" i="1" dirty="0">
                <a:solidFill>
                  <a:srgbClr val="FF0000"/>
                </a:solidFill>
                <a:latin typeface="Calibri" pitchFamily="34" charset="0"/>
                <a:cs typeface="Calibri" pitchFamily="34" charset="-120"/>
              </a:rPr>
              <a:t>23CSE473 — Neural Networks and Deep Learning</a:t>
            </a:r>
            <a:endParaRPr lang="en-US" sz="1600" dirty="0">
              <a:solidFill>
                <a:srgbClr val="FF0000"/>
              </a:solidFill>
            </a:endParaRPr>
          </a:p>
        </p:txBody>
      </p:sp>
      <p:pic>
        <p:nvPicPr>
          <p:cNvPr id="22" name="Picture 2" descr="Amrita Vishwa Vidyapeetham, Coimbatore: Courses, Fees ...">
            <a:extLst>
              <a:ext uri="{FF2B5EF4-FFF2-40B4-BE49-F238E27FC236}">
                <a16:creationId xmlns:a16="http://schemas.microsoft.com/office/drawing/2014/main" id="{8F23BC69-80AD-8BA8-BC5B-CEF206E32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825989" y="133557"/>
            <a:ext cx="965000" cy="943069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29873AC-6BCB-B3A4-F87D-E18C7C236C0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08" r="1708" b="6000"/>
          <a:stretch>
            <a:fillRect/>
          </a:stretch>
        </p:blipFill>
        <p:spPr>
          <a:xfrm>
            <a:off x="3792345" y="4032504"/>
            <a:ext cx="553468" cy="713232"/>
          </a:xfrm>
          <a:prstGeom prst="rect">
            <a:avLst/>
          </a:prstGeom>
          <a:ln w="9525">
            <a:solidFill>
              <a:srgbClr val="D7DCEA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F100445-D966-8C52-294E-E8217B7606B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200" r="11200"/>
          <a:stretch>
            <a:fillRect/>
          </a:stretch>
        </p:blipFill>
        <p:spPr>
          <a:xfrm>
            <a:off x="3792345" y="3209544"/>
            <a:ext cx="553468" cy="713232"/>
          </a:xfrm>
          <a:prstGeom prst="rect">
            <a:avLst/>
          </a:prstGeom>
          <a:ln w="9525">
            <a:solidFill>
              <a:srgbClr val="D7DCEA"/>
            </a:solidFill>
          </a:ln>
        </p:spPr>
      </p:pic>
      <p:sp>
        <p:nvSpPr>
          <p:cNvPr id="23" name="TextBox 22"/>
          <p:cNvSpPr txBox="1"/>
          <p:nvPr/>
        </p:nvSpPr>
        <p:spPr>
          <a:xfrm>
            <a:off x="9052560" y="38404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C00000"/>
                </a:solidFill>
                <a:latin typeface="Cambria"/>
              </a:rPr>
              <a:t>Review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1440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0000"/>
                </a:solidFill>
                <a:latin typeface="Cambria"/>
              </a:rPr>
              <a:t>Review 2 — one model per member, with the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310896"/>
            <a:ext cx="20391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5A5A6B"/>
                </a:solidFill>
              </a:rPr>
              <a:t>Review 2 · 5 marks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0584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194560"/>
                <a:gridCol w="484632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member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features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is demonstrated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Amruth Rohan KR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MFCC-CNN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40 MFCCs × 101 frames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train/eval on the v2 dataset, per-class results, live classification of held-out clips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Harish Venkat VS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log-mel CRNN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64 log-mel × 101 frames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same, plus calibration and int8 quantization of the champion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Harish Venkat VS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Distilled Transformer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64 log-mel × 101 frames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distillation from the CRNN teacher, same evaluation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108960"/>
            <a:ext cx="11064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 b="1">
                <a:solidFill>
                  <a:srgbClr val="C00000"/>
                </a:solidFill>
                <a:latin typeface="Calibri"/>
              </a:rPr>
              <a:t>COMMON GROUND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▪  One dataset (v2), one source-file-disjoint split, one leak-free test set of 2,990 windows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▪  Same metrics for every model: accuracy, macro-F1, distress-call recall, size, CPU latency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▪  Each model is calibrated the same way, so they are compared at equivalent operating points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1440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0000"/>
                </a:solidFill>
                <a:latin typeface="Cambria"/>
              </a:rPr>
              <a:t>Dataset — sources and class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310896"/>
            <a:ext cx="20391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5A5A6B"/>
                </a:solidFill>
              </a:rPr>
              <a:t>Review 2 · 5 marks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960120"/>
          <a:ext cx="11064240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463040"/>
                <a:gridCol w="1463040"/>
                <a:gridCol w="1463040"/>
                <a:gridCol w="1463040"/>
                <a:gridCol w="1463040"/>
                <a:gridCol w="1463040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distress_call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glass_break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horn_skid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alarm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ambience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datasec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esc50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966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1126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freesound_cc0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ravdess_supplement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scream_kaggle_1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575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575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urbansound8k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167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435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343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945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775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113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207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515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1309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2919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703320"/>
            <a:ext cx="5486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 b="1">
                <a:solidFill>
                  <a:srgbClr val="C00000"/>
                </a:solidFill>
                <a:latin typeface="Calibri"/>
              </a:rPr>
              <a:t>WHERE EACH CLASS COMES FROM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▪  ESC-50 — glass, horn, siren, clock alarm, ambient scenes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▪  Kaggle scream set + RAVDESS angry/fearful speech → distress_call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▪  UrbanSound8K — car_horn → horn_skid, siren → alarm, 7 urban classes as hard-negative ambience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▪  DataSEC + Freesound CC0 → extra glass_break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3703320"/>
            <a:ext cx="5303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 b="1">
                <a:solidFill>
                  <a:srgbClr val="C00000"/>
                </a:solidFill>
                <a:latin typeface="Calibri"/>
              </a:rPr>
              <a:t>DESIGN DECISIONS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▪  UrbanSound8K gun_shot excluded: a real hazard with no class here — labelling it ambience would teach the model gunfire is normal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▪  16 kHz mono, denoised, 1 s windows with 50% overlap, near-silent windows dropped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B6114D"/>
                </a:solidFill>
                <a:latin typeface="Calibri"/>
              </a:rPr>
              <a:t>2,919 recordings → 21,917 windows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1440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0000"/>
                </a:solidFill>
                <a:latin typeface="Cambria"/>
              </a:rPr>
              <a:t>Dataset — leakage-free split and duplicate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310896"/>
            <a:ext cx="20391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5A5A6B"/>
                </a:solidFill>
              </a:rPr>
              <a:t>Review 2 · 5 marks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960120"/>
          <a:ext cx="603504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05840"/>
                <a:gridCol w="1005840"/>
                <a:gridCol w="1280160"/>
                <a:gridCol w="1097280"/>
              </a:tblGrid>
              <a:tr h="29260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train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val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test (leak-free)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removed from test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distress_call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3704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782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549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230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glass_break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445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76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76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horn_skid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764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137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144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alarm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2852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611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613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ambience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7741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1585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1608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15506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3191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2990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230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949440" y="914400"/>
            <a:ext cx="46634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 b="1">
                <a:solidFill>
                  <a:srgbClr val="C00000"/>
                </a:solidFill>
                <a:latin typeface="Calibri"/>
              </a:rPr>
              <a:t>SPLIT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1A1A2E"/>
                </a:solidFill>
                <a:latin typeface="Calibri"/>
              </a:rPr>
              <a:t>70 / 15 / 15, stratified, at the source-file level — every window of a recording stays on one side.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C00000"/>
                </a:solidFill>
                <a:latin typeface="Calibri"/>
              </a:rPr>
              <a:t>AUDIT — FOUND DURING THIS REVIEW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1A1A2E"/>
                </a:solidFill>
                <a:latin typeface="Calibri"/>
              </a:rPr>
              <a:t>Hashing every source file showed the Kaggle scream set ships the same recordings in two folders. 230 test windows (all distress_call) were byte-identical to training audio.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1A1A2E"/>
                </a:solidFill>
                <a:latin typeface="Calibri"/>
              </a:rPr>
              <a:t>Fix without retraining: flag them (18_flag_duplicate_sources.py) and report every number on the remaining 2,990 windows.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B6114D"/>
                </a:solidFill>
                <a:latin typeface="Calibri"/>
              </a:rPr>
              <a:t>Impact was small (CRNN 89.8% → 89.7%), and no test window has a byte-identical copy in training (exact-match check; re-encoded copies would not be caught).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1440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0000"/>
                </a:solidFill>
                <a:latin typeface="Cambria"/>
              </a:rPr>
              <a:t>Feature pipeline — shared by all three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310896"/>
            <a:ext cx="20391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5A5A6B"/>
                </a:solidFill>
              </a:rPr>
              <a:t>Review 2 · 5 marks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96012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291840"/>
                <a:gridCol w="5394960"/>
              </a:tblGrid>
              <a:tr h="29260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setting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resample + mono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16 kHz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speech/hazard energy is below 8 kHz; smaller input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denoise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non-stationary spectral gating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suppress steady background before features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window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1.0 s, 50% hop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short enough for near-real-time, long enough for a scream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energy gate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RMS ≥ 1e-4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never train or predict on silence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STFT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512-pt FFT, 10 ms hop → 101 frames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10 ms resolution keeps glass transients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MFCC (CNN)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40 coefficients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compact cepstral summary of the spectrum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log-mel (CRNN, Transformer)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64 mel bands, dB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keeps spectral detail the DCT discards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normalise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per window, zero mean / unit var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loudness-invariant input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augment (train only)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SpecAugment masks + feature noise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regularise the rare classes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1440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0000"/>
                </a:solidFill>
                <a:latin typeface="Cambria"/>
              </a:rPr>
              <a:t>MFCC-CNN — Amruth Rohan KR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310896"/>
            <a:ext cx="20391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5A5A6B"/>
                </a:solidFill>
              </a:rPr>
              <a:t>Review 2 · 5 marks</a:t>
            </a:r>
          </a:p>
        </p:txBody>
      </p:sp>
      <p:pic>
        <p:nvPicPr>
          <p:cNvPr id="4" name="Picture 3" descr="mfcc_cn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278" y="868680"/>
            <a:ext cx="9702963" cy="2331719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3429000"/>
          <a:ext cx="4206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377440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hyper-parameter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learning rate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1.25e-3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batch / dropout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64 / 0.25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selection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Optuna, val macro recall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epochs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25, early stop at 17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0" y="3429000"/>
          <a:ext cx="40233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868680"/>
                <a:gridCol w="868680"/>
                <a:gridCol w="822960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distress_call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0.71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0.80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0.75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glass_break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0.32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0.63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0.43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horn_skid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0.82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0.78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0.80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alarm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0.77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0.89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0.83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ambience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0.89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0.76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0.82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281160" y="338328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 b="1">
                <a:solidFill>
                  <a:srgbClr val="C00000"/>
                </a:solidFill>
                <a:latin typeface="Calibri"/>
              </a:rPr>
              <a:t>LEAK-FREE TEST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1A1A2E"/>
                </a:solidFill>
                <a:latin typeface="Calibri"/>
              </a:rPr>
              <a:t>accuracy 79.2%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1A1A2E"/>
                </a:solidFill>
                <a:latin typeface="Calibri"/>
              </a:rPr>
              <a:t>macro-F1 0.725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1A1A2E"/>
                </a:solidFill>
                <a:latin typeface="Calibri"/>
              </a:rPr>
              <a:t>distress recall 80.3%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1A1A2E"/>
                </a:solidFill>
                <a:latin typeface="Calibri"/>
              </a:rPr>
              <a:t>60,901 params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1A1A2E"/>
                </a:solidFill>
                <a:latin typeface="Calibri"/>
              </a:rPr>
              <a:t>249 KB · 0.52 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1440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0000"/>
                </a:solidFill>
                <a:latin typeface="Cambria"/>
              </a:rPr>
              <a:t>log-mel CRNN — Harish Venkat VS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310896"/>
            <a:ext cx="20391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5A5A6B"/>
                </a:solidFill>
              </a:rPr>
              <a:t>Review 2 · 5 marks</a:t>
            </a:r>
          </a:p>
        </p:txBody>
      </p:sp>
      <p:pic>
        <p:nvPicPr>
          <p:cNvPr id="4" name="Picture 3" descr="crn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453" y="868680"/>
            <a:ext cx="7712612" cy="233172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3429000"/>
          <a:ext cx="4206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377440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hyper-parameter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learning rate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8.56e-4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batch / dropout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16 / 0.27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GRU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128 units × 2 directions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compression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dynamic int8 → 516 KB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0" y="3429000"/>
          <a:ext cx="40233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868680"/>
                <a:gridCol w="868680"/>
                <a:gridCol w="822960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distress_call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0.88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0.87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0.88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glass_break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0.68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0.68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0.68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horn_skid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0.83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0.93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0.88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alarm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0.91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0.92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0.92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ambience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0.91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0.90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0.91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281160" y="338328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 b="1">
                <a:solidFill>
                  <a:srgbClr val="C00000"/>
                </a:solidFill>
                <a:latin typeface="Calibri"/>
              </a:rPr>
              <a:t>LEAK-FREE TEST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1A1A2E"/>
                </a:solidFill>
                <a:latin typeface="Calibri"/>
              </a:rPr>
              <a:t>accuracy 89.7%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1A1A2E"/>
                </a:solidFill>
                <a:latin typeface="Calibri"/>
              </a:rPr>
              <a:t>macro-F1 0.852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1A1A2E"/>
                </a:solidFill>
                <a:latin typeface="Calibri"/>
              </a:rPr>
              <a:t>distress recall 86.7%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1A1A2E"/>
                </a:solidFill>
                <a:latin typeface="Calibri"/>
              </a:rPr>
              <a:t>499,237 params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1A1A2E"/>
                </a:solidFill>
                <a:latin typeface="Calibri"/>
              </a:rPr>
              <a:t>516 KB · 12.81 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1440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0000"/>
                </a:solidFill>
                <a:latin typeface="Cambria"/>
              </a:rPr>
              <a:t>Distilled Transformer — Harish Venkat VS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310896"/>
            <a:ext cx="20391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5A5A6B"/>
                </a:solidFill>
              </a:rPr>
              <a:t>Review 2 · 5 marks</a:t>
            </a:r>
          </a:p>
        </p:txBody>
      </p:sp>
      <p:pic>
        <p:nvPicPr>
          <p:cNvPr id="4" name="Picture 3" descr="transformer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2329" y="868680"/>
            <a:ext cx="6676861" cy="233172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3429000"/>
          <a:ext cx="4206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377440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hyper-parameter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teacher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v2 CRNN (frozen)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α / T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0.5 / 4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learning rate / batch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1e-3 / 32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epochs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25, early stop at 20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0" y="3429000"/>
          <a:ext cx="40233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868680"/>
                <a:gridCol w="868680"/>
                <a:gridCol w="822960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distress_call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0.75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0.83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0.79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glass_break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0.39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0.67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0.49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horn_skid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0.85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0.83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0.84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alarm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0.89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0.90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0.90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ambience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0.89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0.83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0.86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281160" y="338328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 b="1">
                <a:solidFill>
                  <a:srgbClr val="C00000"/>
                </a:solidFill>
                <a:latin typeface="Calibri"/>
              </a:rPr>
              <a:t>LEAK-FREE TEST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1A1A2E"/>
                </a:solidFill>
                <a:latin typeface="Calibri"/>
              </a:rPr>
              <a:t>accuracy 83.8%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1A1A2E"/>
                </a:solidFill>
                <a:latin typeface="Calibri"/>
              </a:rPr>
              <a:t>macro-F1 0.774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1A1A2E"/>
                </a:solidFill>
                <a:latin typeface="Calibri"/>
              </a:rPr>
              <a:t>distress recall 82.5%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1A1A2E"/>
                </a:solidFill>
                <a:latin typeface="Calibri"/>
              </a:rPr>
              <a:t>84,293 params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1A1A2E"/>
                </a:solidFill>
                <a:latin typeface="Calibri"/>
              </a:rPr>
              <a:t>340 KB · 0.48 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1440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0000"/>
                </a:solidFill>
                <a:latin typeface="Cambria"/>
              </a:rPr>
              <a:t>Training — validation macro recall per epoch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310896"/>
            <a:ext cx="20391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5A5A6B"/>
                </a:solidFill>
              </a:rPr>
              <a:t>Review 2 · 5 marks</a:t>
            </a:r>
          </a:p>
        </p:txBody>
      </p:sp>
      <p:pic>
        <p:nvPicPr>
          <p:cNvPr id="4" name="Picture 3" descr="training_curves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914400"/>
            <a:ext cx="7132320" cy="36680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55279" y="100584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 b="1">
                <a:solidFill>
                  <a:srgbClr val="C00000"/>
                </a:solidFill>
                <a:latin typeface="Calibri"/>
              </a:rPr>
              <a:t>HOW EACH MODEL WAS SELECTED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▪  Checkpoint = best validation macro recall, not lowest loss — recall on rare hazards is what matters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▪  Early stopping after 6 epochs without improvement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▪  Class-weighted cross-entropy (1 / class frequency) for all three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▪  Then a per-class logit bias fitted on validation, with every hazard's recall floored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1440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0000"/>
                </a:solidFill>
                <a:latin typeface="Cambria"/>
              </a:rPr>
              <a:t>Results — confusion matrices per member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310896"/>
            <a:ext cx="20391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5A5A6B"/>
                </a:solidFill>
              </a:rPr>
              <a:t>Review 2 · 5 marks</a:t>
            </a:r>
          </a:p>
        </p:txBody>
      </p:sp>
      <p:pic>
        <p:nvPicPr>
          <p:cNvPr id="4" name="Picture 3" descr="mfcc_cnn_v2_leakfree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3657600" cy="304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160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 b="1">
                <a:solidFill>
                  <a:srgbClr val="C00000"/>
                </a:solidFill>
                <a:latin typeface="Calibri"/>
              </a:rPr>
              <a:t>MFCC-CNN · Amruth Rohan KR</a:t>
            </a:r>
          </a:p>
        </p:txBody>
      </p:sp>
      <p:pic>
        <p:nvPicPr>
          <p:cNvPr id="6" name="Picture 5" descr="logmel_crnn_v2_int8_leakfree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914400"/>
            <a:ext cx="3657600" cy="304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51960" y="4160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 b="1">
                <a:solidFill>
                  <a:srgbClr val="C00000"/>
                </a:solidFill>
                <a:latin typeface="Calibri"/>
              </a:rPr>
              <a:t>log-mel CRNN · Harish Venkat VS</a:t>
            </a:r>
          </a:p>
        </p:txBody>
      </p:sp>
      <p:pic>
        <p:nvPicPr>
          <p:cNvPr id="8" name="Picture 7" descr="transformer_v2_leakfree_confusion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914400"/>
            <a:ext cx="3657600" cy="3048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46720" y="4160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 b="1">
                <a:solidFill>
                  <a:srgbClr val="C00000"/>
                </a:solidFill>
                <a:latin typeface="Calibri"/>
              </a:rPr>
              <a:t>Distilled Transformer · Harish Venkat VS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6344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1A1A2E"/>
                </a:solidFill>
                <a:latin typeface="Calibri"/>
              </a:rPr>
              <a:t>Rows are the true class. The dominant error for every model is ambience predicted as a hazard — the price of class-weighted training and recall-floored calibration, which deliberately prefer a false alarm to a missed scream.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1440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0000"/>
                </a:solidFill>
                <a:latin typeface="Cambria"/>
              </a:rPr>
              <a:t>Three-model comparison — leak-free test split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310896"/>
            <a:ext cx="20391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5A5A6B"/>
                </a:solidFill>
              </a:rPr>
              <a:t>Review 2 · 5 marks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96012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1097280"/>
                <a:gridCol w="1097280"/>
                <a:gridCol w="1371600"/>
                <a:gridCol w="1188720"/>
                <a:gridCol w="1280160"/>
                <a:gridCol w="118872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macro-F1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distress recall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params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served size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CPU / window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MFCC-CNN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Amruth Rohan KR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79.2%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0.725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80.3%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60,901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249 KB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0.52 ms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log-mel CRNN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Harish Venkat VS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89.7%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0.852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86.7%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499,237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516 KB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12.81 ms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Distilled Transformer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Harish Venkat VS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83.8%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0.774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82.5%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84,293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340 KB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0.48 ms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architectur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06040"/>
            <a:ext cx="6583680" cy="23087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6640" y="2606040"/>
            <a:ext cx="4206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 b="1">
                <a:solidFill>
                  <a:srgbClr val="C00000"/>
                </a:solidFill>
                <a:latin typeface="Calibri"/>
              </a:rPr>
              <a:t>READING THE TABLE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▪  CRNN leads every quality metric: macro-F1 0.852 vs 0.774 / 0.725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▪  Transformer: 17% of the CRNN's parameters, 27× faster per window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▪  MFCC-CNN: smallest and fastest, weakest on glass_break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B6114D"/>
                </a:solidFill>
                <a:latin typeface="Calibri"/>
              </a:rPr>
              <a:t>All three are far inside the 1 s real-time budget, so hazard recall decides: the quantized CRNN ships as the default.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1440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0000"/>
                </a:solidFill>
                <a:latin typeface="Cambria"/>
              </a:rPr>
              <a:t>Live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310896"/>
            <a:ext cx="20391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5A5A6B"/>
                </a:solidFill>
              </a:rPr>
              <a:t>Review 2 · 5 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 b="1">
                <a:solidFill>
                  <a:srgbClr val="C00000"/>
                </a:solidFill>
                <a:latin typeface="Calibri"/>
              </a:rPr>
              <a:t>EACH MEMBER RUNS THEIR OWN MODEL ON THE HELD-OUT TEST SET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1A1A2E"/>
                </a:solidFill>
                <a:latin typeface="Calibri"/>
              </a:rPr>
              <a:t>cd scripts;  $env:SAFESCAPE_PROC_DIR = "data/processed_v2"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1A1A2E"/>
                </a:solidFill>
                <a:latin typeface="Calibri"/>
              </a:rPr>
              <a:t>python 10_evaluate.py --arch mfcc_cnn --ckpt ../models/checkpoints/mfcc_cnn_v2.pt --calibration ../models/exported/mfcc_cnn/calibration.json --manifest ../data/processed_v2/windows_manifest_dedup.csv --cpu-only        (Amruth)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1A1A2E"/>
                </a:solidFill>
                <a:latin typeface="Calibri"/>
              </a:rPr>
              <a:t>python 10_evaluate.py --arch logmel_crnn --hidden-size 128 --ckpt ../models/exported/logmel_crnn/best_model.pt --quantized --calibration ../models/exported/logmel_crnn/calibration.json --manifest ../data/processed_v2/windows_manifest_dedup.csv        (Harish)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1A1A2E"/>
                </a:solidFill>
                <a:latin typeface="Calibri"/>
              </a:rPr>
              <a:t>python 10_evaluate.py --arch transformer --ckpt ../models/checkpoints/transformer_v2.pt --calibration ../models/exported/transformer/calibration.json --manifest ../data/processed_v2/windows_manifest_dedup.csv --cpu-only        (Harish)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C00000"/>
                </a:solidFill>
                <a:latin typeface="Calibri"/>
              </a:rPr>
              <a:t>THEN THE SAME MODEL ON A SINGLE CLIP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1A1A2E"/>
                </a:solidFill>
                <a:latin typeface="Calibri"/>
              </a:rPr>
              <a:t>python run_demo.py  →  http://127.0.0.1:8124/compare  →  pick a held-out test clip; each member's card shows their model's verdict, probabilities and latency.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D2EC4925-13C0-4F9C-9EC6-BA379B2903BA}" vid="{D05CAAF7-8C12-42B7-AE16-5E8F348BAE34}"/>
    </a:ext>
  </a:extLst>
</a:theme>
</file>

<file path=ppt/theme/theme2.xml><?xml version="1.0" encoding="utf-8"?>
<a:theme xmlns:a="http://schemas.openxmlformats.org/drawingml/2006/main" name="Presentation slides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Presentation Cover pag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Presentation Cover pag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_Presentation slides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40</TotalTime>
  <Words>5138</Words>
  <Application>Microsoft Office PowerPoint</Application>
  <PresentationFormat>Widescreen</PresentationFormat>
  <Paragraphs>516</Paragraphs>
  <Slides>21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Arial</vt:lpstr>
      <vt:lpstr>Avenir</vt:lpstr>
      <vt:lpstr>Calibri</vt:lpstr>
      <vt:lpstr>Cambria</vt:lpstr>
      <vt:lpstr>Garamond</vt:lpstr>
      <vt:lpstr>Poppins</vt:lpstr>
      <vt:lpstr>Theme1</vt:lpstr>
      <vt:lpstr>Presentation slides</vt:lpstr>
      <vt:lpstr>Presentation Cover page</vt:lpstr>
      <vt:lpstr>1_Presentation Cover page</vt:lpstr>
      <vt:lpstr>1_Presentation slides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SafeScape — Review 2</dc:title>
  <dc:subject>PptxGenJS Presentation</dc:subject>
  <dc:creator>Amruth Rohan KR; Harish Venkat VS</dc:creator>
  <cp:lastModifiedBy>Harish Venkat V S-[CB.EN.U4ECE23219]</cp:lastModifiedBy>
  <cp:revision>10</cp:revision>
  <dcterms:created xsi:type="dcterms:W3CDTF">2026-08-20T08:53:47Z</dcterms:created>
  <dcterms:modified xsi:type="dcterms:W3CDTF">2026-10-01T03:40:57Z</dcterms:modified>
</cp:coreProperties>
</file>